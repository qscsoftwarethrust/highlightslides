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5" r:id="rId4"/>
  </p:sldMasterIdLst>
  <p:notesMasterIdLst>
    <p:notesMasterId r:id="rId14"/>
  </p:notesMasterIdLst>
  <p:handoutMasterIdLst>
    <p:handoutMasterId r:id="rId15"/>
  </p:handoutMasterIdLst>
  <p:sldIdLst>
    <p:sldId id="334" r:id="rId5"/>
    <p:sldId id="1943" r:id="rId6"/>
    <p:sldId id="274" r:id="rId7"/>
    <p:sldId id="275" r:id="rId8"/>
    <p:sldId id="270" r:id="rId9"/>
    <p:sldId id="1942" r:id="rId10"/>
    <p:sldId id="260" r:id="rId11"/>
    <p:sldId id="1945" r:id="rId12"/>
    <p:sldId id="1941" r:id="rId13"/>
  </p:sldIdLst>
  <p:sldSz cx="12192000" cy="6858000"/>
  <p:notesSz cx="6881813"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12" userDrawn="1">
          <p15:clr>
            <a:srgbClr val="A4A3A4"/>
          </p15:clr>
        </p15:guide>
        <p15:guide id="2" pos="3843"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6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41CC64-CB68-3CCC-CE7D-524AB942F24C}" name="Adin, Dawn" initials="AD" userId="S::Dawn.Adin@science.doe.gov::8d8700ce-24e1-4bef-ab81-9babd59e7352" providerId="AD"/>
  <p188:author id="{DDF2CD8A-B613-63BE-5BE0-8B6C66D41B9B}" name="DiStefano, Victoria" initials="VD" userId="S::Victoria.DiStefano@science.doe.gov::4d18b966-613a-44e4-9736-e9b5867b2345" providerId="AD"/>
  <p188:author id="{1D1E208C-27B8-435D-8286-6410B0F2A76F}" name="Robin Hayes" initials="RH" userId="S::Robin.Hayes@science.doe.gov::c9543de8-ddb0-4d67-a97d-dcfd934382c7" providerId="AD"/>
  <p188:author id="{32E352DD-2FFA-06CA-8083-C544E41DB7E3}" name="McLean, Gail" initials="GM" userId="S::Gail.Mclean@science.doe.gov::f0527ca2-6982-4389-83fa-5fa3cfcb5a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carruju" initials="" lastIdx="3" clrIdx="0"/>
  <p:cmAuthor id="7" name="Office of Science" initials="SC" lastIdx="1" clrIdx="7">
    <p:extLst>
      <p:ext uri="{19B8F6BF-5375-455C-9EA6-DF929625EA0E}">
        <p15:presenceInfo xmlns:p15="http://schemas.microsoft.com/office/powerpoint/2012/main" userId="Office of Science" providerId="None"/>
      </p:ext>
    </p:extLst>
  </p:cmAuthor>
  <p:cmAuthor id="1" name="OMB28" initials="OMB28" lastIdx="3" clrIdx="1"/>
  <p:cmAuthor id="8" name="BES" initials="HL" lastIdx="10" clrIdx="8">
    <p:extLst>
      <p:ext uri="{19B8F6BF-5375-455C-9EA6-DF929625EA0E}">
        <p15:presenceInfo xmlns:p15="http://schemas.microsoft.com/office/powerpoint/2012/main" userId="BES" providerId="None"/>
      </p:ext>
    </p:extLst>
  </p:cmAuthor>
  <p:cmAuthor id="2" name="Lisa Yost" initials="LY" lastIdx="1" clrIdx="2">
    <p:extLst>
      <p:ext uri="{19B8F6BF-5375-455C-9EA6-DF929625EA0E}">
        <p15:presenceInfo xmlns:p15="http://schemas.microsoft.com/office/powerpoint/2012/main" userId="Lisa Yost" providerId="None"/>
      </p:ext>
    </p:extLst>
  </p:cmAuthor>
  <p:cmAuthor id="9" name="hortlin" initials="h" lastIdx="4" clrIdx="9"/>
  <p:cmAuthor id="3" name="Pham, Sandra" initials="PS" lastIdx="47" clrIdx="3">
    <p:extLst>
      <p:ext uri="{19B8F6BF-5375-455C-9EA6-DF929625EA0E}">
        <p15:presenceInfo xmlns:p15="http://schemas.microsoft.com/office/powerpoint/2012/main" userId="Pham, Sandra" providerId="None"/>
      </p:ext>
    </p:extLst>
  </p:cmAuthor>
  <p:cmAuthor id="4" name="Sandra Pham" initials="LY" lastIdx="7" clrIdx="4">
    <p:extLst>
      <p:ext uri="{19B8F6BF-5375-455C-9EA6-DF929625EA0E}">
        <p15:presenceInfo xmlns:p15="http://schemas.microsoft.com/office/powerpoint/2012/main" userId="Sandra Pham" providerId="None"/>
      </p:ext>
    </p:extLst>
  </p:cmAuthor>
  <p:cmAuthor id="5" name="Klausing, Kathleen" initials="KK" lastIdx="1" clrIdx="5">
    <p:extLst>
      <p:ext uri="{19B8F6BF-5375-455C-9EA6-DF929625EA0E}">
        <p15:presenceInfo xmlns:p15="http://schemas.microsoft.com/office/powerpoint/2012/main" userId="Klausing, Kathleen" providerId="None"/>
      </p:ext>
    </p:extLst>
  </p:cmAuthor>
  <p:cmAuthor id="6" name="Allen, Denise" initials="DA" lastIdx="1" clrIdx="6">
    <p:extLst>
      <p:ext uri="{19B8F6BF-5375-455C-9EA6-DF929625EA0E}">
        <p15:presenceInfo xmlns:p15="http://schemas.microsoft.com/office/powerpoint/2012/main" userId="Allen, Den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C45"/>
    <a:srgbClr val="0F6636"/>
    <a:srgbClr val="106636"/>
    <a:srgbClr val="000000"/>
    <a:srgbClr val="0000FF"/>
    <a:srgbClr val="F2F2F2"/>
    <a:srgbClr val="5AE838"/>
    <a:srgbClr val="9966FF"/>
    <a:srgbClr val="0099FF"/>
    <a:srgbClr val="33CCFF"/>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16" d="100"/>
          <a:sy n="116" d="100"/>
        </p:scale>
        <p:origin x="864" y="176"/>
      </p:cViewPr>
      <p:guideLst>
        <p:guide orient="horz" pos="312"/>
        <p:guide pos="3843"/>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yton Ortega, Vicente" userId="8adb52d4-262f-4996-9c11-ed7d318b706e" providerId="ADAL" clId="{E9D10EB0-3DCE-56A7-AA14-90F521142E67}"/>
    <pc:docChg chg="modSld">
      <pc:chgData name="Leyton Ortega, Vicente" userId="8adb52d4-262f-4996-9c11-ed7d318b706e" providerId="ADAL" clId="{E9D10EB0-3DCE-56A7-AA14-90F521142E67}" dt="2026-05-19T04:01:05.282" v="0" actId="20577"/>
      <pc:docMkLst>
        <pc:docMk/>
      </pc:docMkLst>
      <pc:sldChg chg="modSp mod">
        <pc:chgData name="Leyton Ortega, Vicente" userId="8adb52d4-262f-4996-9c11-ed7d318b706e" providerId="ADAL" clId="{E9D10EB0-3DCE-56A7-AA14-90F521142E67}" dt="2026-05-19T04:01:05.282" v="0" actId="20577"/>
        <pc:sldMkLst>
          <pc:docMk/>
          <pc:sldMk cId="1075207497" sldId="1943"/>
        </pc:sldMkLst>
        <pc:spChg chg="mod">
          <ac:chgData name="Leyton Ortega, Vicente" userId="8adb52d4-262f-4996-9c11-ed7d318b706e" providerId="ADAL" clId="{E9D10EB0-3DCE-56A7-AA14-90F521142E67}" dt="2026-05-19T04:01:05.282" v="0" actId="20577"/>
          <ac:spMkLst>
            <pc:docMk/>
            <pc:sldMk cId="1075207497" sldId="1943"/>
            <ac:spMk id="6" creationId="{DFFCBDDB-B982-378C-44F1-9297DCBCC82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1"/>
            <a:ext cx="2982380" cy="464900"/>
          </a:xfrm>
          <a:prstGeom prst="rect">
            <a:avLst/>
          </a:prstGeom>
        </p:spPr>
        <p:txBody>
          <a:bodyPr vert="horz" lIns="91847" tIns="45921" rIns="91847" bIns="45921" rtlCol="0"/>
          <a:lstStyle>
            <a:lvl1pPr algn="l">
              <a:defRPr sz="1200"/>
            </a:lvl1pPr>
          </a:lstStyle>
          <a:p>
            <a:endParaRPr lang="en-US"/>
          </a:p>
        </p:txBody>
      </p:sp>
      <p:sp>
        <p:nvSpPr>
          <p:cNvPr id="3" name="Date Placeholder 2"/>
          <p:cNvSpPr>
            <a:spLocks noGrp="1"/>
          </p:cNvSpPr>
          <p:nvPr>
            <p:ph type="dt" sz="quarter" idx="1"/>
          </p:nvPr>
        </p:nvSpPr>
        <p:spPr>
          <a:xfrm>
            <a:off x="3897882" y="11"/>
            <a:ext cx="2982379" cy="464900"/>
          </a:xfrm>
          <a:prstGeom prst="rect">
            <a:avLst/>
          </a:prstGeom>
        </p:spPr>
        <p:txBody>
          <a:bodyPr vert="horz" lIns="91847" tIns="45921" rIns="91847" bIns="45921" rtlCol="0"/>
          <a:lstStyle>
            <a:lvl1pPr algn="r">
              <a:defRPr sz="1200"/>
            </a:lvl1pPr>
          </a:lstStyle>
          <a:p>
            <a:fld id="{B17554D1-967C-4C6D-9F2D-48B3C2720170}" type="datetimeFigureOut">
              <a:rPr lang="en-US" smtClean="0"/>
              <a:t>5/19/26</a:t>
            </a:fld>
            <a:endParaRPr lang="en-US"/>
          </a:p>
        </p:txBody>
      </p:sp>
      <p:sp>
        <p:nvSpPr>
          <p:cNvPr id="4" name="Footer Placeholder 3"/>
          <p:cNvSpPr>
            <a:spLocks noGrp="1"/>
          </p:cNvSpPr>
          <p:nvPr>
            <p:ph type="ftr" sz="quarter" idx="2"/>
          </p:nvPr>
        </p:nvSpPr>
        <p:spPr>
          <a:xfrm>
            <a:off x="1" y="8829911"/>
            <a:ext cx="2982380" cy="464900"/>
          </a:xfrm>
          <a:prstGeom prst="rect">
            <a:avLst/>
          </a:prstGeom>
        </p:spPr>
        <p:txBody>
          <a:bodyPr vert="horz" lIns="91847" tIns="45921" rIns="91847" bIns="45921" rtlCol="0" anchor="b"/>
          <a:lstStyle>
            <a:lvl1pPr algn="l">
              <a:defRPr sz="1200"/>
            </a:lvl1pPr>
          </a:lstStyle>
          <a:p>
            <a:endParaRPr lang="en-US"/>
          </a:p>
        </p:txBody>
      </p:sp>
      <p:sp>
        <p:nvSpPr>
          <p:cNvPr id="5" name="Slide Number Placeholder 4"/>
          <p:cNvSpPr>
            <a:spLocks noGrp="1"/>
          </p:cNvSpPr>
          <p:nvPr>
            <p:ph type="sldNum" sz="quarter" idx="3"/>
          </p:nvPr>
        </p:nvSpPr>
        <p:spPr>
          <a:xfrm>
            <a:off x="3897882" y="8829911"/>
            <a:ext cx="2982379" cy="464900"/>
          </a:xfrm>
          <a:prstGeom prst="rect">
            <a:avLst/>
          </a:prstGeom>
        </p:spPr>
        <p:txBody>
          <a:bodyPr vert="horz" lIns="91847" tIns="45921" rIns="91847" bIns="45921" rtlCol="0" anchor="b"/>
          <a:lstStyle>
            <a:lvl1pPr algn="r">
              <a:defRPr sz="1200"/>
            </a:lvl1pPr>
          </a:lstStyle>
          <a:p>
            <a:fld id="{AA47E720-93EF-483D-84A7-F39F5B8DBC9A}" type="slidenum">
              <a:rPr lang="en-US" smtClean="0"/>
              <a:t>‹#›</a:t>
            </a:fld>
            <a:endParaRPr lang="en-US"/>
          </a:p>
        </p:txBody>
      </p:sp>
    </p:spTree>
    <p:extLst>
      <p:ext uri="{BB962C8B-B14F-4D97-AF65-F5344CB8AC3E}">
        <p14:creationId xmlns:p14="http://schemas.microsoft.com/office/powerpoint/2010/main" val="38397499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1"/>
            <a:ext cx="2981912" cy="464820"/>
          </a:xfrm>
          <a:prstGeom prst="rect">
            <a:avLst/>
          </a:prstGeom>
        </p:spPr>
        <p:txBody>
          <a:bodyPr vert="horz" lIns="92628" tIns="46311" rIns="92628" bIns="46311"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98353" y="11"/>
            <a:ext cx="2981912" cy="464820"/>
          </a:xfrm>
          <a:prstGeom prst="rect">
            <a:avLst/>
          </a:prstGeom>
        </p:spPr>
        <p:txBody>
          <a:bodyPr vert="horz" lIns="92628" tIns="46311" rIns="92628" bIns="46311" rtlCol="0"/>
          <a:lstStyle>
            <a:lvl1pPr algn="r" fontAlgn="auto">
              <a:spcBef>
                <a:spcPts val="0"/>
              </a:spcBef>
              <a:spcAft>
                <a:spcPts val="0"/>
              </a:spcAft>
              <a:defRPr sz="1200">
                <a:latin typeface="+mn-lt"/>
              </a:defRPr>
            </a:lvl1pPr>
          </a:lstStyle>
          <a:p>
            <a:pPr>
              <a:defRPr/>
            </a:pPr>
            <a:fld id="{36962A90-C2A2-4CDF-8D04-DA2BD430AAAB}" type="datetimeFigureOut">
              <a:rPr lang="en-US"/>
              <a:pPr>
                <a:defRPr/>
              </a:pPr>
              <a:t>5/19/26</a:t>
            </a:fld>
            <a:endParaRPr lang="en-US"/>
          </a:p>
        </p:txBody>
      </p:sp>
      <p:sp>
        <p:nvSpPr>
          <p:cNvPr id="4" name="Slide Image Placeholder 3"/>
          <p:cNvSpPr>
            <a:spLocks noGrp="1" noRot="1" noChangeAspect="1"/>
          </p:cNvSpPr>
          <p:nvPr>
            <p:ph type="sldImg" idx="2"/>
          </p:nvPr>
        </p:nvSpPr>
        <p:spPr>
          <a:xfrm>
            <a:off x="344488" y="698500"/>
            <a:ext cx="6192837" cy="3484563"/>
          </a:xfrm>
          <a:prstGeom prst="rect">
            <a:avLst/>
          </a:prstGeom>
          <a:noFill/>
          <a:ln w="12700">
            <a:solidFill>
              <a:prstClr val="black"/>
            </a:solidFill>
          </a:ln>
        </p:spPr>
        <p:txBody>
          <a:bodyPr vert="horz" lIns="92628" tIns="46311" rIns="92628" bIns="46311" rtlCol="0" anchor="ctr"/>
          <a:lstStyle/>
          <a:p>
            <a:pPr lvl="0"/>
            <a:endParaRPr lang="en-US" noProof="0"/>
          </a:p>
        </p:txBody>
      </p:sp>
      <p:sp>
        <p:nvSpPr>
          <p:cNvPr id="5" name="Notes Placeholder 4"/>
          <p:cNvSpPr>
            <a:spLocks noGrp="1"/>
          </p:cNvSpPr>
          <p:nvPr>
            <p:ph type="body" sz="quarter" idx="3"/>
          </p:nvPr>
        </p:nvSpPr>
        <p:spPr>
          <a:xfrm>
            <a:off x="688503" y="4415791"/>
            <a:ext cx="5504827" cy="4183380"/>
          </a:xfrm>
          <a:prstGeom prst="rect">
            <a:avLst/>
          </a:prstGeom>
        </p:spPr>
        <p:txBody>
          <a:bodyPr vert="horz" lIns="92628" tIns="46311" rIns="92628" bIns="4631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4" y="8829994"/>
            <a:ext cx="2981912" cy="464820"/>
          </a:xfrm>
          <a:prstGeom prst="rect">
            <a:avLst/>
          </a:prstGeom>
        </p:spPr>
        <p:txBody>
          <a:bodyPr vert="horz" lIns="92628" tIns="46311" rIns="92628" bIns="46311"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98353" y="8829994"/>
            <a:ext cx="2981912" cy="464820"/>
          </a:xfrm>
          <a:prstGeom prst="rect">
            <a:avLst/>
          </a:prstGeom>
        </p:spPr>
        <p:txBody>
          <a:bodyPr vert="horz" lIns="92628" tIns="46311" rIns="92628" bIns="46311" rtlCol="0" anchor="b"/>
          <a:lstStyle>
            <a:lvl1pPr algn="r" fontAlgn="auto">
              <a:spcBef>
                <a:spcPts val="0"/>
              </a:spcBef>
              <a:spcAft>
                <a:spcPts val="0"/>
              </a:spcAft>
              <a:defRPr sz="1200">
                <a:latin typeface="+mn-lt"/>
              </a:defRPr>
            </a:lvl1pPr>
          </a:lstStyle>
          <a:p>
            <a:pPr>
              <a:defRPr/>
            </a:pPr>
            <a:fld id="{F876D4B8-3D7E-42E7-AF06-6D9133F7F081}" type="slidenum">
              <a:rPr lang="en-US"/>
              <a:pPr>
                <a:defRPr/>
              </a:pPr>
              <a:t>‹#›</a:t>
            </a:fld>
            <a:endParaRPr lang="en-US"/>
          </a:p>
        </p:txBody>
      </p:sp>
    </p:spTree>
    <p:extLst>
      <p:ext uri="{BB962C8B-B14F-4D97-AF65-F5344CB8AC3E}">
        <p14:creationId xmlns:p14="http://schemas.microsoft.com/office/powerpoint/2010/main" val="1014026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22264" rtl="0" eaLnBrk="1" fontAlgn="auto" latinLnBrk="0" hangingPunct="1">
              <a:lnSpc>
                <a:spcPct val="100000"/>
              </a:lnSpc>
              <a:spcBef>
                <a:spcPts val="0"/>
              </a:spcBef>
              <a:spcAft>
                <a:spcPts val="0"/>
              </a:spcAft>
              <a:buClrTx/>
              <a:buSzTx/>
              <a:buFontTx/>
              <a:buNone/>
              <a:tabLst/>
              <a:defRPr/>
            </a:pPr>
            <a:r>
              <a:rPr lang="en-US" b="1"/>
              <a:t>Template Instructions:</a:t>
            </a:r>
            <a:br>
              <a:rPr lang="en-US"/>
            </a:br>
            <a:r>
              <a:rPr kumimoji="0" lang="en-US" sz="1200" b="0" i="0" u="sng" strike="noStrike" kern="1200" cap="none" spc="0" normalizeH="0" baseline="0" noProof="0">
                <a:ln>
                  <a:noFill/>
                </a:ln>
                <a:solidFill>
                  <a:prstClr val="black"/>
                </a:solidFill>
                <a:effectLst/>
                <a:uLnTx/>
                <a:uFillTx/>
                <a:latin typeface="Arial"/>
                <a:ea typeface="+mn-ea"/>
                <a:cs typeface="Arial"/>
              </a:rPr>
              <a:t>1-2 paragraph description of highlight</a:t>
            </a:r>
            <a:r>
              <a:rPr kumimoji="0" lang="en-US" sz="1200" b="0" i="0" u="none" strike="noStrike" kern="1200" cap="none" spc="0" normalizeH="0" baseline="0" noProof="0">
                <a:ln>
                  <a:noFill/>
                </a:ln>
                <a:solidFill>
                  <a:prstClr val="black"/>
                </a:solidFill>
                <a:effectLst/>
                <a:uLnTx/>
                <a:uFillTx/>
                <a:latin typeface="Arial"/>
                <a:ea typeface="+mn-ea"/>
                <a:cs typeface="Arial"/>
              </a:rPr>
              <a:t> – NOT the abstract of the paper… talking points for a speaker using the slide that summarizes the most important aspects.</a:t>
            </a:r>
            <a:endParaRPr kumimoji="0" lang="en-US" sz="1200" b="0" i="0" u="none" strike="noStrike" kern="1200" cap="none" spc="0" normalizeH="0" baseline="0" noProof="0">
              <a:ln>
                <a:noFill/>
              </a:ln>
              <a:solidFill>
                <a:srgbClr val="0D0D0D"/>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a:ln>
                  <a:noFill/>
                </a:ln>
                <a:solidFill>
                  <a:prstClr val="black"/>
                </a:solidFill>
                <a:effectLst/>
                <a:uLnTx/>
                <a:uFillTx/>
                <a:latin typeface="+mn-lt"/>
                <a:ea typeface="+mn-ea"/>
                <a:cs typeface="+mn-cs"/>
              </a:rPr>
              <a:t>Acknowledgements</a:t>
            </a:r>
            <a:r>
              <a:rPr kumimoji="0" lang="en-US" sz="1200" b="0" i="0" u="none" strike="noStrike" kern="1200" cap="none" spc="0" normalizeH="0" baseline="0" noProof="0">
                <a:ln>
                  <a:noFill/>
                </a:ln>
                <a:solidFill>
                  <a:prstClr val="black"/>
                </a:solidFill>
                <a:effectLst/>
                <a:uLnTx/>
                <a:uFillTx/>
                <a:latin typeface="+mn-lt"/>
                <a:ea typeface="+mn-ea"/>
                <a:cs typeface="+mn-cs"/>
              </a:rPr>
              <a:t> – From the paper, with additional info if the acknowledgement is not sufficient.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sng" strike="noStrike" kern="1200" cap="none" spc="0" normalizeH="0" baseline="0" noProof="0">
              <a:ln>
                <a:noFill/>
              </a:ln>
              <a:solidFill>
                <a:prstClr val="black"/>
              </a:solidFill>
              <a:effectLst/>
              <a:uLnTx/>
              <a:uFillTx/>
              <a:latin typeface="Arial"/>
              <a:ea typeface="+mn-ea"/>
              <a:cs typeface="Arial"/>
            </a:endParaRPr>
          </a:p>
          <a:p>
            <a:pPr marL="0" marR="0" lvl="0" indent="0" algn="l" defTabSz="922264"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a:ln>
                  <a:noFill/>
                </a:ln>
                <a:solidFill>
                  <a:prstClr val="black"/>
                </a:solidFill>
                <a:effectLst/>
                <a:uLnTx/>
                <a:uFillTx/>
                <a:latin typeface="Arial"/>
                <a:ea typeface="+mn-ea"/>
                <a:cs typeface="Arial"/>
              </a:rPr>
              <a:t>Publication/ press releases/ related links</a:t>
            </a:r>
            <a:endParaRPr kumimoji="0" lang="en-US" sz="1200" b="0" i="0" u="none" strike="noStrike" kern="1200" cap="none" spc="0" normalizeH="0" baseline="0" noProof="0">
              <a:ln>
                <a:noFill/>
              </a:ln>
              <a:solidFill>
                <a:prstClr val="black"/>
              </a:solidFill>
              <a:effectLst/>
              <a:uLnTx/>
              <a:uFillTx/>
              <a:latin typeface="Arial"/>
              <a:ea typeface="+mn-ea"/>
              <a:cs typeface="Arial"/>
            </a:endParaRPr>
          </a:p>
          <a:p>
            <a:endParaRPr lang="en-US"/>
          </a:p>
          <a:p>
            <a:r>
              <a:rPr lang="en-US"/>
              <a:t>NOTE: A limited amount of text with engaging pictures and graphics work best.</a:t>
            </a:r>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93856A-75D2-42A6-90A7-46D3019DB1E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7844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F876D4B8-3D7E-42E7-AF06-6D9133F7F081}" type="slidenum">
              <a:rPr lang="en-US" smtClean="0"/>
              <a:pPr>
                <a:defRPr/>
              </a:pPr>
              <a:t>3</a:t>
            </a:fld>
            <a:endParaRPr lang="en-US"/>
          </a:p>
        </p:txBody>
      </p:sp>
    </p:spTree>
    <p:extLst>
      <p:ext uri="{BB962C8B-B14F-4D97-AF65-F5344CB8AC3E}">
        <p14:creationId xmlns:p14="http://schemas.microsoft.com/office/powerpoint/2010/main" val="3879730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210A8A-16C0-4562-AD3A-B1BC2569C64A}" type="slidenum">
              <a:rPr lang="en-US" smtClean="0"/>
              <a:pPr/>
              <a:t>4</a:t>
            </a:fld>
            <a:endParaRPr lang="en-US"/>
          </a:p>
        </p:txBody>
      </p:sp>
    </p:spTree>
    <p:extLst>
      <p:ext uri="{BB962C8B-B14F-4D97-AF65-F5344CB8AC3E}">
        <p14:creationId xmlns:p14="http://schemas.microsoft.com/office/powerpoint/2010/main" val="350615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210A8A-16C0-4562-AD3A-B1BC2569C64A}" type="slidenum">
              <a:rPr lang="en-US" smtClean="0"/>
              <a:pPr/>
              <a:t>5</a:t>
            </a:fld>
            <a:endParaRPr lang="en-US"/>
          </a:p>
        </p:txBody>
      </p:sp>
    </p:spTree>
    <p:extLst>
      <p:ext uri="{BB962C8B-B14F-4D97-AF65-F5344CB8AC3E}">
        <p14:creationId xmlns:p14="http://schemas.microsoft.com/office/powerpoint/2010/main" val="2899420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210A8A-16C0-4562-AD3A-B1BC2569C64A}" type="slidenum">
              <a:rPr lang="en-US" smtClean="0"/>
              <a:pPr/>
              <a:t>6</a:t>
            </a:fld>
            <a:endParaRPr lang="en-US"/>
          </a:p>
        </p:txBody>
      </p:sp>
    </p:spTree>
    <p:extLst>
      <p:ext uri="{BB962C8B-B14F-4D97-AF65-F5344CB8AC3E}">
        <p14:creationId xmlns:p14="http://schemas.microsoft.com/office/powerpoint/2010/main" val="2418549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lvl="0" indent="0" algn="l" defTabSz="922264"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a:ln>
                  <a:noFill/>
                </a:ln>
                <a:solidFill>
                  <a:prstClr val="black"/>
                </a:solidFill>
                <a:effectLst/>
                <a:uLnTx/>
                <a:uFillTx/>
                <a:latin typeface="Arial"/>
                <a:ea typeface="+mn-ea"/>
                <a:cs typeface="Arial"/>
              </a:rPr>
              <a:t>1-2 paragraph description of highlight</a:t>
            </a:r>
            <a:r>
              <a:rPr kumimoji="0" lang="en-US" sz="1200" b="0" i="0" u="none" strike="noStrike" kern="1200" cap="none" spc="0" normalizeH="0" baseline="0" noProof="0">
                <a:ln>
                  <a:noFill/>
                </a:ln>
                <a:solidFill>
                  <a:prstClr val="black"/>
                </a:solidFill>
                <a:effectLst/>
                <a:uLnTx/>
                <a:uFillTx/>
                <a:latin typeface="Arial"/>
                <a:ea typeface="+mn-ea"/>
                <a:cs typeface="Arial"/>
              </a:rPr>
              <a:t> </a:t>
            </a:r>
            <a:endParaRPr kumimoji="0" lang="en-US" sz="1200" b="0" i="0" u="none" strike="noStrike" kern="1200" cap="none" spc="0" normalizeH="0" baseline="0" noProof="0">
              <a:ln>
                <a:noFill/>
              </a:ln>
              <a:solidFill>
                <a:srgbClr val="0D0D0D"/>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The </a:t>
            </a:r>
            <a:r>
              <a:rPr kumimoji="0" lang="en-US" sz="1200" b="0" i="0" u="none" strike="noStrike" kern="1200" cap="none" spc="0" normalizeH="0" baseline="0" noProof="0" err="1">
                <a:ln>
                  <a:noFill/>
                </a:ln>
                <a:solidFill>
                  <a:prstClr val="black"/>
                </a:solidFill>
                <a:effectLst/>
                <a:uLnTx/>
                <a:uFillTx/>
                <a:latin typeface="+mn-lt"/>
                <a:ea typeface="+mn-ea"/>
                <a:cs typeface="+mn-cs"/>
              </a:rPr>
              <a:t>transplutonium</a:t>
            </a:r>
            <a:r>
              <a:rPr kumimoji="0" lang="en-US" sz="1200" b="0" i="0" u="none" strike="noStrike" kern="1200" cap="none" spc="0" normalizeH="0" baseline="0" noProof="0">
                <a:ln>
                  <a:noFill/>
                </a:ln>
                <a:solidFill>
                  <a:prstClr val="black"/>
                </a:solidFill>
                <a:effectLst/>
                <a:uLnTx/>
                <a:uFillTx/>
                <a:latin typeface="+mn-lt"/>
                <a:ea typeface="+mn-ea"/>
                <a:cs typeface="+mn-cs"/>
              </a:rPr>
              <a:t> elements (atomic numbers 95–103) are a group of metals that lie at the edge of the periodic table. As a result, the patterns and trends used to predict and control the physics and chemistry for transition metals, main-group elements and lanthanides are less applicable to these elements.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Since element 99 – einsteinium – was discovered in 1952  from the debris of the first hydrogen bomb, scientists have performed very few experiments with it because it is so hard to create and is exceptionally radioactive. A team of Berkeley Lab chemists have overcome these obstacles to report the first study characterizing some of its properties, opening the door to a better understanding of the remaining elements of the actinide series.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With less than 250 nanograms of the highly radioactive element, the research team led by Rebecca </a:t>
            </a:r>
            <a:r>
              <a:rPr kumimoji="0" lang="en-US" sz="1200" b="0" i="0" u="none" strike="noStrike" kern="1200" cap="none" spc="0" normalizeH="0" baseline="0" noProof="0" err="1">
                <a:ln>
                  <a:noFill/>
                </a:ln>
                <a:solidFill>
                  <a:prstClr val="black"/>
                </a:solidFill>
                <a:effectLst/>
                <a:uLnTx/>
                <a:uFillTx/>
                <a:latin typeface="+mn-lt"/>
                <a:ea typeface="+mn-ea"/>
                <a:cs typeface="+mn-cs"/>
              </a:rPr>
              <a:t>Abergel</a:t>
            </a:r>
            <a:r>
              <a:rPr kumimoji="0" lang="en-US" sz="1200" b="0" i="0" u="none" strike="noStrike" kern="1200" cap="none" spc="0" normalizeH="0" baseline="0" noProof="0">
                <a:ln>
                  <a:noFill/>
                </a:ln>
                <a:solidFill>
                  <a:prstClr val="black"/>
                </a:solidFill>
                <a:effectLst/>
                <a:uLnTx/>
                <a:uFillTx/>
                <a:latin typeface="+mn-lt"/>
                <a:ea typeface="+mn-ea"/>
                <a:cs typeface="+mn-cs"/>
              </a:rPr>
              <a:t> measured the first-ever einsteinium bond distance, a basic property of an element’s interactions with other atoms and molecules.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“There’s not much known about einsteinium,” said </a:t>
            </a:r>
            <a:r>
              <a:rPr kumimoji="0" lang="en-US" sz="1200" b="0" i="0" u="none" strike="noStrike" kern="1200" cap="none" spc="0" normalizeH="0" baseline="0" noProof="0" err="1">
                <a:ln>
                  <a:noFill/>
                </a:ln>
                <a:solidFill>
                  <a:prstClr val="black"/>
                </a:solidFill>
                <a:effectLst/>
                <a:uLnTx/>
                <a:uFillTx/>
                <a:latin typeface="+mn-lt"/>
                <a:ea typeface="+mn-ea"/>
                <a:cs typeface="+mn-cs"/>
              </a:rPr>
              <a:t>Abergel</a:t>
            </a:r>
            <a:r>
              <a:rPr kumimoji="0" lang="en-US" sz="1200" b="0" i="0" u="none" strike="noStrike" kern="1200" cap="none" spc="0" normalizeH="0" baseline="0" noProof="0">
                <a:ln>
                  <a:noFill/>
                </a:ln>
                <a:solidFill>
                  <a:prstClr val="black"/>
                </a:solidFill>
                <a:effectLst/>
                <a:uLnTx/>
                <a:uFillTx/>
                <a:latin typeface="+mn-lt"/>
                <a:ea typeface="+mn-ea"/>
                <a:cs typeface="+mn-cs"/>
              </a:rPr>
              <a:t>. “It’s a remarkable achievement that we were able to work with this small amount of material and do inorganic chemistry. It’s significant because the more we understand about its chemical behavior, the more we can apply this understanding for the development of new materials or new technologies, not necessarily just with einsteinium, but with the rest of the actinides too. And we can establish trends in the periodic table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The material was made at Oak Ridge National Laboratory’s High Flux Isotope Reactor, one of only a few places in the world that is capable of making einsteinium, which involves bombarding curium targets with neutrons to trigger a long chain of nuclear reactions. The first problem they encountered was that the sample was contaminated with a significant amount of californium, as making pure einsteinium in a usable quantity is extraordinarily challenging.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Using a special sample holder designed by researchers at Los Alamos National Laboratory, the researchers were able to use luminescence spectroscopy and X-ray absorption spectroscopy to measure the bond distance and some physical properties of einsteinium-254.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sng" strike="noStrike" kern="1200" cap="none" spc="0" normalizeH="0" baseline="0" noProof="0">
              <a:ln>
                <a:noFill/>
              </a:ln>
              <a:solidFill>
                <a:srgbClr val="0D0D0D"/>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D0D0D"/>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a:ln>
                  <a:noFill/>
                </a:ln>
                <a:solidFill>
                  <a:srgbClr val="0D0D0D"/>
                </a:solidFill>
                <a:effectLst/>
                <a:uLnTx/>
                <a:uFillTx/>
                <a:latin typeface="Arial"/>
                <a:ea typeface="+mn-ea"/>
                <a:cs typeface="Arial"/>
              </a:rPr>
              <a:t>Funding details for all 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Acknowledgements 254Es was supplied by the Isotope Program within the US Department of Energy (DOE), Office of Science, Office of Nuclear Physics. We thank N. Edelstein for discussions, M. Fox for </a:t>
            </a:r>
            <a:r>
              <a:rPr kumimoji="0" lang="el-GR" sz="1200" b="0" i="0" u="none" strike="noStrike" kern="1200" cap="none" spc="0" normalizeH="0" baseline="0" noProof="0">
                <a:ln>
                  <a:noFill/>
                </a:ln>
                <a:solidFill>
                  <a:prstClr val="black"/>
                </a:solidFill>
                <a:effectLst/>
                <a:uLnTx/>
                <a:uFillTx/>
                <a:latin typeface="+mn-lt"/>
                <a:ea typeface="+mn-ea"/>
                <a:cs typeface="+mn-cs"/>
              </a:rPr>
              <a:t>γ </a:t>
            </a:r>
            <a:r>
              <a:rPr kumimoji="0" lang="en-US" sz="1200" b="0" i="0" u="none" strike="noStrike" kern="1200" cap="none" spc="0" normalizeH="0" baseline="0" noProof="0">
                <a:ln>
                  <a:noFill/>
                </a:ln>
                <a:solidFill>
                  <a:prstClr val="black"/>
                </a:solidFill>
                <a:effectLst/>
                <a:uLnTx/>
                <a:uFillTx/>
                <a:latin typeface="+mn-lt"/>
                <a:ea typeface="+mn-ea"/>
                <a:cs typeface="+mn-cs"/>
              </a:rPr>
              <a:t>spectrometer calibration, and N. Singh, B. Fairchild, S. Hays and </a:t>
            </a:r>
            <a:r>
              <a:rPr kumimoji="0" lang="en-US" sz="1200" b="0" i="0" u="none" strike="noStrike" kern="1200" cap="none" spc="0" normalizeH="0" baseline="0" noProof="0" err="1">
                <a:ln>
                  <a:noFill/>
                </a:ln>
                <a:solidFill>
                  <a:prstClr val="black"/>
                </a:solidFill>
                <a:effectLst/>
                <a:uLnTx/>
                <a:uFillTx/>
                <a:latin typeface="+mn-lt"/>
                <a:ea typeface="+mn-ea"/>
                <a:cs typeface="+mn-cs"/>
              </a:rPr>
              <a:t>R.Davis</a:t>
            </a:r>
            <a:r>
              <a:rPr kumimoji="0" lang="en-US" sz="1200" b="0" i="0" u="none" strike="noStrike" kern="1200" cap="none" spc="0" normalizeH="0" baseline="0" noProof="0">
                <a:ln>
                  <a:noFill/>
                </a:ln>
                <a:solidFill>
                  <a:prstClr val="black"/>
                </a:solidFill>
                <a:effectLst/>
                <a:uLnTx/>
                <a:uFillTx/>
                <a:latin typeface="+mn-lt"/>
                <a:ea typeface="+mn-ea"/>
                <a:cs typeface="+mn-cs"/>
              </a:rPr>
              <a:t> for assistance in planning and implementing experiments at the Stanford Synchrotron Radiation </a:t>
            </a:r>
            <a:r>
              <a:rPr kumimoji="0" lang="en-US" sz="1200" b="0" i="0" u="none" strike="noStrike" kern="1200" cap="none" spc="0" normalizeH="0" baseline="0" noProof="0" err="1">
                <a:ln>
                  <a:noFill/>
                </a:ln>
                <a:solidFill>
                  <a:prstClr val="black"/>
                </a:solidFill>
                <a:effectLst/>
                <a:uLnTx/>
                <a:uFillTx/>
                <a:latin typeface="+mn-lt"/>
                <a:ea typeface="+mn-ea"/>
                <a:cs typeface="+mn-cs"/>
              </a:rPr>
              <a:t>Lightsource</a:t>
            </a:r>
            <a:r>
              <a:rPr kumimoji="0" lang="en-US" sz="1200" b="0" i="0" u="none" strike="noStrike" kern="1200" cap="none" spc="0" normalizeH="0" baseline="0" noProof="0">
                <a:ln>
                  <a:noFill/>
                </a:ln>
                <a:solidFill>
                  <a:prstClr val="black"/>
                </a:solidFill>
                <a:effectLst/>
                <a:uLnTx/>
                <a:uFillTx/>
                <a:latin typeface="+mn-lt"/>
                <a:ea typeface="+mn-ea"/>
                <a:cs typeface="+mn-cs"/>
              </a:rPr>
              <a:t> (SSRL) and at the Molecular Foundry. This work was supported by the DOE, Office of Science, Office of Basic Energy Sciences, Chemical Sciences, Geosciences, and Biosciences Division at Lawrence Berkeley National Laboratory, under contract number DE-AC02-05CH11231, and at Los Alamos National Laboratory (LANL), an affirmative-action/equal-opportunity employer, managed by Triad National Security, LLC, for the NNSA of the DOE (contract number 89233218CNA000001). K.M.S. acknowledges support from a DOE Integrated University Program graduate research fellowship. Z.R.J. was supported by the Glenn T. Seaborg Institute at LANL. K.E.K. and J.N.W. were supported by the DOE, Office of Science, Office of Basic Energy Sciences, Early Career Research Program under award DE-SC0019190. J.N.W. was also supported by the DOE, Office of Science, Office of Workforce Development for Teachers and Scientists, Office of Science Graduate Student Research (SCGSR) program, which is administered by the Oak Ridge Institute for Science and Education (ORISE) and managed by ORAU (contract number DE-SC0014664) for the DOE. Use of the SSRL, SLAC National Accelerator Laboratory, is supported by the DOE, Office of Science, Office of Basic Energy Sciences under contract number DE-AC02-76SF00515. Near-infrared luminescence spectra were collected at the Molecular Foundry, a User Facility supported by the DOE, Office of Science, Office of Basic Energy Sciences under contract number DE-AC02- 05CH1123.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22264"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a:ln>
                  <a:noFill/>
                </a:ln>
                <a:solidFill>
                  <a:prstClr val="black"/>
                </a:solidFill>
                <a:effectLst/>
                <a:uLnTx/>
                <a:uFillTx/>
                <a:latin typeface="Arial"/>
                <a:ea typeface="+mn-ea"/>
                <a:cs typeface="Arial"/>
              </a:rPr>
              <a:t>Publication/ press releases/ related links:</a:t>
            </a:r>
            <a:endParaRPr kumimoji="0" lang="en-US" sz="12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2226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106636"/>
                </a:solidFill>
                <a:effectLst/>
                <a:uLnTx/>
                <a:uFillTx/>
                <a:latin typeface="+mn-lt"/>
                <a:ea typeface="+mn-ea"/>
                <a:cs typeface="+mn-cs"/>
              </a:rPr>
              <a:t>Carter, K.P., Shield, K.M., Smith, K.F. et al. Structural and spectroscopic characterization of an einsteinium complex. Nature 590, 85–88 (2021). https://doi-org.proxy.scejournals.org/10.1038/s41586-020-03179-3</a:t>
            </a:r>
          </a:p>
          <a:p>
            <a:pPr marL="0" marR="0" lvl="0" indent="0" algn="l" defTabSz="92226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D0D0D"/>
                </a:solidFill>
                <a:effectLst/>
                <a:uLnTx/>
                <a:uFillTx/>
                <a:latin typeface="Arial"/>
                <a:ea typeface="+mn-ea"/>
                <a:cs typeface="Arial"/>
              </a:rPr>
              <a:t>Einsteinium: Scientists Reveal Chemical Secrets of Elusive </a:t>
            </a:r>
            <a:r>
              <a:rPr kumimoji="0" lang="en-US" sz="1200" b="0" i="0" u="none" strike="noStrike" kern="1200" cap="none" spc="0" normalizeH="0" baseline="0" noProof="0" err="1">
                <a:ln>
                  <a:noFill/>
                </a:ln>
                <a:solidFill>
                  <a:srgbClr val="0D0D0D"/>
                </a:solidFill>
                <a:effectLst/>
                <a:uLnTx/>
                <a:uFillTx/>
                <a:latin typeface="Arial"/>
                <a:ea typeface="+mn-ea"/>
                <a:cs typeface="Arial"/>
              </a:rPr>
              <a:t>Transplutonium</a:t>
            </a:r>
            <a:r>
              <a:rPr kumimoji="0" lang="en-US" sz="1200" b="0" i="0" u="none" strike="noStrike" kern="1200" cap="none" spc="0" normalizeH="0" baseline="0" noProof="0">
                <a:ln>
                  <a:noFill/>
                </a:ln>
                <a:solidFill>
                  <a:srgbClr val="0D0D0D"/>
                </a:solidFill>
                <a:effectLst/>
                <a:uLnTx/>
                <a:uFillTx/>
                <a:latin typeface="Arial"/>
                <a:ea typeface="+mn-ea"/>
                <a:cs typeface="Arial"/>
              </a:rPr>
              <a:t> Element (Sci News)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a:ln>
                  <a:noFill/>
                </a:ln>
                <a:solidFill>
                  <a:srgbClr val="0D0D0D"/>
                </a:solidFill>
                <a:effectLst/>
                <a:uLnTx/>
                <a:uFillTx/>
                <a:latin typeface="Arial"/>
                <a:ea typeface="+mn-ea"/>
                <a:cs typeface="Arial"/>
              </a:rPr>
              <a:t>http://www.sci-news.com/othersciences/chemistry/einsteinium-coordination-complex-09320.html</a:t>
            </a:r>
          </a:p>
          <a:p>
            <a:endParaRPr lang="en-US"/>
          </a:p>
          <a:p>
            <a:r>
              <a:rPr lang="en-US"/>
              <a:t>NOTE: A limited amount of text with engaging pictures and graphics work best.</a:t>
            </a:r>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93856A-75D2-42A6-90A7-46D3019DB1E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97316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122363"/>
            <a:ext cx="9144000" cy="2387600"/>
          </a:xfrm>
        </p:spPr>
        <p:txBody>
          <a:bodyPr anchor="b"/>
          <a:lstStyle>
            <a:lvl1pPr algn="ctr">
              <a:defRPr sz="6000">
                <a:solidFill>
                  <a:schemeClr val="bg1"/>
                </a:solidFill>
              </a:defRPr>
            </a:lvl1pPr>
          </a:lstStyle>
          <a:p>
            <a:r>
              <a:rPr lang="en-US"/>
              <a:t>Click to edit title </a:t>
            </a:r>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4" name="Date Placeholder 3"/>
          <p:cNvSpPr>
            <a:spLocks noGrp="1"/>
          </p:cNvSpPr>
          <p:nvPr>
            <p:ph type="dt" sz="half" idx="10"/>
          </p:nvPr>
        </p:nvSpPr>
        <p:spPr>
          <a:xfrm>
            <a:off x="2928257" y="6413161"/>
            <a:ext cx="968829" cy="365125"/>
          </a:xfrm>
          <a:prstGeom prst="rect">
            <a:avLst/>
          </a:prstGeom>
        </p:spPr>
        <p:txBody>
          <a:bodyPr/>
          <a:lstStyle>
            <a:lvl1pPr algn="r">
              <a:defRPr sz="1100"/>
            </a:lvl1pPr>
          </a:lstStyle>
          <a:p>
            <a:fld id="{8F182ACA-94E5-43E6-83F8-799916BA6B59}" type="datetime1">
              <a:rPr lang="en-US" smtClean="0"/>
              <a:pPr/>
              <a:t>5/19/26</a:t>
            </a:fld>
            <a:endParaRPr lang="en-US"/>
          </a:p>
        </p:txBody>
      </p:sp>
      <p:sp>
        <p:nvSpPr>
          <p:cNvPr id="5" name="Footer Placeholder 4"/>
          <p:cNvSpPr>
            <a:spLocks noGrp="1"/>
          </p:cNvSpPr>
          <p:nvPr>
            <p:ph type="ftr" sz="quarter" idx="11"/>
          </p:nvPr>
        </p:nvSpPr>
        <p:spPr>
          <a:xfrm>
            <a:off x="4038600" y="6413160"/>
            <a:ext cx="4114800" cy="365125"/>
          </a:xfrm>
          <a:prstGeom prst="rect">
            <a:avLst/>
          </a:prstGeom>
        </p:spPr>
        <p:txBody>
          <a:bodyPr/>
          <a:lstStyle>
            <a:lvl1pPr>
              <a:defRPr sz="1100"/>
            </a:lvl1pPr>
          </a:lstStyle>
          <a:p>
            <a:endParaRPr lang="en-US"/>
          </a:p>
        </p:txBody>
      </p:sp>
      <p:sp>
        <p:nvSpPr>
          <p:cNvPr id="6" name="Rectangle 5"/>
          <p:cNvSpPr/>
          <p:nvPr userDrawn="1"/>
        </p:nvSpPr>
        <p:spPr>
          <a:xfrm>
            <a:off x="0" y="5622878"/>
            <a:ext cx="12192000" cy="12351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2289" y="5815220"/>
            <a:ext cx="4894439" cy="901108"/>
          </a:xfrm>
          <a:prstGeom prst="rect">
            <a:avLst/>
          </a:prstGeom>
        </p:spPr>
      </p:pic>
      <p:sp>
        <p:nvSpPr>
          <p:cNvPr id="8" name="TextBox 7"/>
          <p:cNvSpPr txBox="1"/>
          <p:nvPr userDrawn="1"/>
        </p:nvSpPr>
        <p:spPr>
          <a:xfrm>
            <a:off x="6693054" y="6182327"/>
            <a:ext cx="5366657" cy="461665"/>
          </a:xfrm>
          <a:prstGeom prst="rect">
            <a:avLst/>
          </a:prstGeom>
          <a:noFill/>
        </p:spPr>
        <p:txBody>
          <a:bodyPr wrap="square" rtlCol="0">
            <a:spAutoFit/>
          </a:bodyPr>
          <a:lstStyle/>
          <a:p>
            <a:pPr algn="ctr"/>
            <a:r>
              <a:rPr lang="en-US" sz="2400">
                <a:solidFill>
                  <a:schemeClr val="accent1"/>
                </a:solidFill>
                <a:latin typeface="+mj-lt"/>
              </a:rPr>
              <a:t>Science.osti.gov/Initiatives/QIS</a:t>
            </a:r>
          </a:p>
        </p:txBody>
      </p:sp>
    </p:spTree>
    <p:extLst>
      <p:ext uri="{BB962C8B-B14F-4D97-AF65-F5344CB8AC3E}">
        <p14:creationId xmlns:p14="http://schemas.microsoft.com/office/powerpoint/2010/main" val="34423198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idx="1"/>
          </p:nvPr>
        </p:nvSpPr>
        <p:spPr/>
        <p:txBody>
          <a:bodyPr/>
          <a:lstStyle>
            <a:lvl1pPr marL="228600" indent="-2286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11" name="TextBox 10"/>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1963058138"/>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conten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835B6AD7-18B8-4C9C-AA70-ABD830A869AC}" type="slidenum">
              <a:rPr lang="en-US" smtClean="0"/>
              <a:pPr/>
              <a:t>‹#›</a:t>
            </a:fld>
            <a:endParaRPr lang="en-US"/>
          </a:p>
        </p:txBody>
      </p:sp>
      <p:sp>
        <p:nvSpPr>
          <p:cNvPr id="11" name="Content Placeholder 10"/>
          <p:cNvSpPr>
            <a:spLocks noGrp="1"/>
          </p:cNvSpPr>
          <p:nvPr>
            <p:ph sz="quarter" idx="11"/>
          </p:nvPr>
        </p:nvSpPr>
        <p:spPr>
          <a:xfrm>
            <a:off x="439738" y="1681163"/>
            <a:ext cx="5430484" cy="4143375"/>
          </a:xfrm>
          <a:solidFill>
            <a:schemeClr val="accent1"/>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4"/>
          <p:cNvSpPr>
            <a:spLocks noGrp="1"/>
          </p:cNvSpPr>
          <p:nvPr>
            <p:ph sz="quarter" idx="13"/>
          </p:nvPr>
        </p:nvSpPr>
        <p:spPr>
          <a:xfrm>
            <a:off x="6333067" y="1681163"/>
            <a:ext cx="5454121" cy="4143375"/>
          </a:xfrm>
          <a:solidFill>
            <a:schemeClr val="accent2">
              <a:lumMod val="50000"/>
            </a:schemeClr>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58EDFFB8-5D16-6737-097D-6612AFE7A730}"/>
              </a:ext>
            </a:extLst>
          </p:cNvPr>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4252343384"/>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835B6AD7-18B8-4C9C-AA70-ABD830A869AC}" type="slidenum">
              <a:rPr lang="en-US" smtClean="0"/>
              <a:pPr/>
              <a:t>‹#›</a:t>
            </a:fld>
            <a:endParaRPr lang="en-US"/>
          </a:p>
        </p:txBody>
      </p:sp>
      <p:sp>
        <p:nvSpPr>
          <p:cNvPr id="11" name="Content Placeholder 10"/>
          <p:cNvSpPr>
            <a:spLocks noGrp="1"/>
          </p:cNvSpPr>
          <p:nvPr>
            <p:ph sz="quarter" idx="11"/>
          </p:nvPr>
        </p:nvSpPr>
        <p:spPr>
          <a:xfrm>
            <a:off x="439738" y="1681163"/>
            <a:ext cx="3578225" cy="4143375"/>
          </a:xfrm>
          <a:solidFill>
            <a:schemeClr val="accent1"/>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12"/>
          </p:nvPr>
        </p:nvSpPr>
        <p:spPr>
          <a:xfrm>
            <a:off x="4327525" y="1681163"/>
            <a:ext cx="3576638" cy="4143375"/>
          </a:xfrm>
          <a:solidFill>
            <a:schemeClr val="accent4"/>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4"/>
          <p:cNvSpPr>
            <a:spLocks noGrp="1"/>
          </p:cNvSpPr>
          <p:nvPr>
            <p:ph sz="quarter" idx="13"/>
          </p:nvPr>
        </p:nvSpPr>
        <p:spPr>
          <a:xfrm>
            <a:off x="8212138" y="1681163"/>
            <a:ext cx="3575050" cy="4143375"/>
          </a:xfrm>
          <a:solidFill>
            <a:schemeClr val="accent2">
              <a:lumMod val="50000"/>
            </a:schemeClr>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8C0681D2-6FA9-1910-3457-276AFB4E5866}"/>
              </a:ext>
            </a:extLst>
          </p:cNvPr>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1240799684"/>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with picture (roun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12" name="Picture Placeholder 11"/>
          <p:cNvSpPr>
            <a:spLocks noGrp="1"/>
          </p:cNvSpPr>
          <p:nvPr>
            <p:ph type="pic" sz="quarter" idx="10"/>
          </p:nvPr>
        </p:nvSpPr>
        <p:spPr>
          <a:xfrm>
            <a:off x="6920089" y="1045804"/>
            <a:ext cx="5271912" cy="5274034"/>
          </a:xfrm>
          <a:custGeom>
            <a:avLst/>
            <a:gdLst>
              <a:gd name="connsiteX0" fmla="*/ 3962270 w 5375563"/>
              <a:gd name="connsiteY0" fmla="*/ 0 h 5377727"/>
              <a:gd name="connsiteX1" fmla="*/ 5140529 w 5375563"/>
              <a:gd name="connsiteY1" fmla="*/ 168208 h 5377727"/>
              <a:gd name="connsiteX2" fmla="*/ 5375563 w 5375563"/>
              <a:gd name="connsiteY2" fmla="*/ 249437 h 5377727"/>
              <a:gd name="connsiteX3" fmla="*/ 5375563 w 5375563"/>
              <a:gd name="connsiteY3" fmla="*/ 5377727 h 5377727"/>
              <a:gd name="connsiteX4" fmla="*/ 398434 w 5375563"/>
              <a:gd name="connsiteY4" fmla="*/ 5377727 h 5377727"/>
              <a:gd name="connsiteX5" fmla="*/ 390724 w 5375563"/>
              <a:gd name="connsiteY5" fmla="*/ 5363513 h 5377727"/>
              <a:gd name="connsiteX6" fmla="*/ 0 w 5375563"/>
              <a:gd name="connsiteY6" fmla="*/ 3741443 h 5377727"/>
              <a:gd name="connsiteX7" fmla="*/ 3962270 w 5375563"/>
              <a:gd name="connsiteY7" fmla="*/ 0 h 5377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5563" h="5377727">
                <a:moveTo>
                  <a:pt x="3962270" y="0"/>
                </a:moveTo>
                <a:cubicBezTo>
                  <a:pt x="4372577" y="0"/>
                  <a:pt x="4768317" y="58891"/>
                  <a:pt x="5140529" y="168208"/>
                </a:cubicBezTo>
                <a:lnTo>
                  <a:pt x="5375563" y="249437"/>
                </a:lnTo>
                <a:lnTo>
                  <a:pt x="5375563" y="5377727"/>
                </a:lnTo>
                <a:lnTo>
                  <a:pt x="398434" y="5377727"/>
                </a:lnTo>
                <a:lnTo>
                  <a:pt x="390724" y="5363513"/>
                </a:lnTo>
                <a:cubicBezTo>
                  <a:pt x="140324" y="4872813"/>
                  <a:pt x="0" y="4322602"/>
                  <a:pt x="0" y="3741443"/>
                </a:cubicBezTo>
                <a:cubicBezTo>
                  <a:pt x="0" y="1675101"/>
                  <a:pt x="1773969" y="0"/>
                  <a:pt x="3962270" y="0"/>
                </a:cubicBezTo>
                <a:close/>
              </a:path>
            </a:pathLst>
          </a:custGeom>
          <a:noFill/>
        </p:spPr>
        <p:txBody>
          <a:bodyPr wrap="square" anchor="ctr" anchorCtr="1">
            <a:noAutofit/>
          </a:bodyPr>
          <a:lstStyle>
            <a:lvl1pPr marL="0" indent="0">
              <a:buNone/>
              <a:defRPr/>
            </a:lvl1pPr>
          </a:lstStyle>
          <a:p>
            <a:r>
              <a:rPr lang="en-US"/>
              <a:t>Click icon to add picture</a:t>
            </a:r>
          </a:p>
        </p:txBody>
      </p:sp>
      <p:sp>
        <p:nvSpPr>
          <p:cNvPr id="14" name="Text Placeholder 13"/>
          <p:cNvSpPr>
            <a:spLocks noGrp="1"/>
          </p:cNvSpPr>
          <p:nvPr>
            <p:ph type="body" sz="quarter" idx="11"/>
          </p:nvPr>
        </p:nvSpPr>
        <p:spPr>
          <a:xfrm>
            <a:off x="409575" y="1389063"/>
            <a:ext cx="6227763" cy="4662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92D97B62-14B9-429F-7464-AF0A9E201630}"/>
              </a:ext>
            </a:extLst>
          </p:cNvPr>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2154902708"/>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with picture (circl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8791" y="177283"/>
            <a:ext cx="8668421" cy="801663"/>
          </a:xfrm>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14" name="Text Placeholder 13"/>
          <p:cNvSpPr>
            <a:spLocks noGrp="1"/>
          </p:cNvSpPr>
          <p:nvPr>
            <p:ph type="body" sz="quarter" idx="11"/>
          </p:nvPr>
        </p:nvSpPr>
        <p:spPr>
          <a:xfrm>
            <a:off x="409575" y="1389063"/>
            <a:ext cx="4580089" cy="4662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p:cNvSpPr>
            <a:spLocks noGrp="1"/>
          </p:cNvSpPr>
          <p:nvPr>
            <p:ph type="pic" sz="quarter" idx="12"/>
          </p:nvPr>
        </p:nvSpPr>
        <p:spPr>
          <a:xfrm>
            <a:off x="6164263" y="1320659"/>
            <a:ext cx="1543050" cy="1543191"/>
          </a:xfrm>
          <a:prstGeom prst="ellipse">
            <a:avLst/>
          </a:prstGeom>
        </p:spPr>
        <p:txBody>
          <a:bodyPr>
            <a:normAutofit/>
          </a:bodyPr>
          <a:lstStyle>
            <a:lvl1pPr>
              <a:defRPr sz="1400"/>
            </a:lvl1pPr>
          </a:lstStyle>
          <a:p>
            <a:r>
              <a:rPr lang="en-US"/>
              <a:t>Click icon to add picture</a:t>
            </a:r>
          </a:p>
        </p:txBody>
      </p:sp>
      <p:sp>
        <p:nvSpPr>
          <p:cNvPr id="17" name="Picture Placeholder 16"/>
          <p:cNvSpPr>
            <a:spLocks noGrp="1"/>
          </p:cNvSpPr>
          <p:nvPr>
            <p:ph type="pic" sz="quarter" idx="13"/>
          </p:nvPr>
        </p:nvSpPr>
        <p:spPr>
          <a:xfrm>
            <a:off x="8918700" y="529330"/>
            <a:ext cx="2835150" cy="2834583"/>
          </a:xfrm>
          <a:prstGeom prst="ellipse">
            <a:avLst/>
          </a:prstGeom>
        </p:spPr>
        <p:txBody>
          <a:bodyPr/>
          <a:lstStyle/>
          <a:p>
            <a:r>
              <a:rPr lang="en-US"/>
              <a:t>Click icon to add picture</a:t>
            </a:r>
          </a:p>
        </p:txBody>
      </p:sp>
      <p:sp>
        <p:nvSpPr>
          <p:cNvPr id="20" name="Picture Placeholder 19"/>
          <p:cNvSpPr>
            <a:spLocks noGrp="1"/>
          </p:cNvSpPr>
          <p:nvPr>
            <p:ph type="pic" sz="quarter" idx="14"/>
          </p:nvPr>
        </p:nvSpPr>
        <p:spPr>
          <a:xfrm>
            <a:off x="7245351" y="2667000"/>
            <a:ext cx="1831861" cy="1833563"/>
          </a:xfrm>
          <a:prstGeom prst="ellipse">
            <a:avLst/>
          </a:prstGeom>
        </p:spPr>
        <p:txBody>
          <a:bodyPr>
            <a:normAutofit/>
          </a:bodyPr>
          <a:lstStyle>
            <a:lvl1pPr>
              <a:defRPr sz="1800"/>
            </a:lvl1pPr>
          </a:lstStyle>
          <a:p>
            <a:r>
              <a:rPr lang="en-US"/>
              <a:t>Click icon to add picture</a:t>
            </a:r>
          </a:p>
        </p:txBody>
      </p:sp>
      <p:sp>
        <p:nvSpPr>
          <p:cNvPr id="22" name="Picture Placeholder 21"/>
          <p:cNvSpPr>
            <a:spLocks noGrp="1"/>
          </p:cNvSpPr>
          <p:nvPr>
            <p:ph type="pic" sz="quarter" idx="15"/>
          </p:nvPr>
        </p:nvSpPr>
        <p:spPr>
          <a:xfrm>
            <a:off x="5463822" y="4007983"/>
            <a:ext cx="2210192" cy="2210466"/>
          </a:xfrm>
          <a:prstGeom prst="ellipse">
            <a:avLst/>
          </a:prstGeom>
        </p:spPr>
        <p:txBody>
          <a:bodyPr/>
          <a:lstStyle/>
          <a:p>
            <a:r>
              <a:rPr lang="en-US"/>
              <a:t>Click icon to add picture</a:t>
            </a:r>
          </a:p>
        </p:txBody>
      </p:sp>
      <p:sp>
        <p:nvSpPr>
          <p:cNvPr id="24" name="Picture Placeholder 23"/>
          <p:cNvSpPr>
            <a:spLocks noGrp="1"/>
          </p:cNvSpPr>
          <p:nvPr>
            <p:ph type="pic" sz="quarter" idx="16"/>
          </p:nvPr>
        </p:nvSpPr>
        <p:spPr>
          <a:xfrm>
            <a:off x="9218855" y="3630613"/>
            <a:ext cx="2392119" cy="2392362"/>
          </a:xfrm>
          <a:prstGeom prst="ellipse">
            <a:avLst/>
          </a:prstGeom>
        </p:spPr>
        <p:txBody>
          <a:bodyPr/>
          <a:lstStyle/>
          <a:p>
            <a:r>
              <a:rPr lang="en-US"/>
              <a:t>Click icon to add picture</a:t>
            </a:r>
          </a:p>
        </p:txBody>
      </p:sp>
      <p:sp>
        <p:nvSpPr>
          <p:cNvPr id="3" name="TextBox 2">
            <a:extLst>
              <a:ext uri="{FF2B5EF4-FFF2-40B4-BE49-F238E27FC236}">
                <a16:creationId xmlns:a16="http://schemas.microsoft.com/office/drawing/2014/main" id="{40387EE7-4716-448A-F155-55AFB115EBCB}"/>
              </a:ext>
            </a:extLst>
          </p:cNvPr>
          <p:cNvSpPr txBox="1"/>
          <p:nvPr userDrawn="1"/>
        </p:nvSpPr>
        <p:spPr>
          <a:xfrm>
            <a:off x="9018246" y="6398798"/>
            <a:ext cx="3173754" cy="369332"/>
          </a:xfrm>
          <a:prstGeom prst="rect">
            <a:avLst/>
          </a:prstGeom>
          <a:noFill/>
        </p:spPr>
        <p:txBody>
          <a:bodyPr wrap="none" rtlCol="0">
            <a:spAutoFit/>
          </a:bodyPr>
          <a:lstStyle/>
          <a:p>
            <a:pPr algn="r"/>
            <a:r>
              <a:rPr lang="en-US" b="0">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358839262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th picture (strip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14" name="Text Placeholder 13"/>
          <p:cNvSpPr>
            <a:spLocks noGrp="1"/>
          </p:cNvSpPr>
          <p:nvPr>
            <p:ph type="body" sz="quarter" idx="11"/>
          </p:nvPr>
        </p:nvSpPr>
        <p:spPr>
          <a:xfrm>
            <a:off x="409576" y="1389063"/>
            <a:ext cx="5212292" cy="4662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p:cNvSpPr>
            <a:spLocks noGrp="1"/>
          </p:cNvSpPr>
          <p:nvPr>
            <p:ph type="pic" sz="quarter" idx="12"/>
          </p:nvPr>
        </p:nvSpPr>
        <p:spPr>
          <a:xfrm>
            <a:off x="5947085" y="1446839"/>
            <a:ext cx="6244914" cy="4481287"/>
          </a:xfrm>
          <a:custGeom>
            <a:avLst/>
            <a:gdLst>
              <a:gd name="connsiteX0" fmla="*/ 743081 w 6244914"/>
              <a:gd name="connsiteY0" fmla="*/ 3021747 h 4481287"/>
              <a:gd name="connsiteX1" fmla="*/ 6244914 w 6244914"/>
              <a:gd name="connsiteY1" fmla="*/ 3021747 h 4481287"/>
              <a:gd name="connsiteX2" fmla="*/ 6244914 w 6244914"/>
              <a:gd name="connsiteY2" fmla="*/ 4481287 h 4481287"/>
              <a:gd name="connsiteX3" fmla="*/ 1475626 w 6244914"/>
              <a:gd name="connsiteY3" fmla="*/ 4481287 h 4481287"/>
              <a:gd name="connsiteX4" fmla="*/ 0 w 6244914"/>
              <a:gd name="connsiteY4" fmla="*/ 1510873 h 4481287"/>
              <a:gd name="connsiteX5" fmla="*/ 6244914 w 6244914"/>
              <a:gd name="connsiteY5" fmla="*/ 1510873 h 4481287"/>
              <a:gd name="connsiteX6" fmla="*/ 6244914 w 6244914"/>
              <a:gd name="connsiteY6" fmla="*/ 2970413 h 4481287"/>
              <a:gd name="connsiteX7" fmla="*/ 733392 w 6244914"/>
              <a:gd name="connsiteY7" fmla="*/ 2970413 h 4481287"/>
              <a:gd name="connsiteX8" fmla="*/ 723088 w 6244914"/>
              <a:gd name="connsiteY8" fmla="*/ 0 h 4481287"/>
              <a:gd name="connsiteX9" fmla="*/ 6244914 w 6244914"/>
              <a:gd name="connsiteY9" fmla="*/ 0 h 4481287"/>
              <a:gd name="connsiteX10" fmla="*/ 6244914 w 6244914"/>
              <a:gd name="connsiteY10" fmla="*/ 1459540 h 4481287"/>
              <a:gd name="connsiteX11" fmla="*/ 0 w 6244914"/>
              <a:gd name="connsiteY11" fmla="*/ 1459540 h 448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44914" h="4481287">
                <a:moveTo>
                  <a:pt x="743081" y="3021747"/>
                </a:moveTo>
                <a:lnTo>
                  <a:pt x="6244914" y="3021747"/>
                </a:lnTo>
                <a:lnTo>
                  <a:pt x="6244914" y="4481287"/>
                </a:lnTo>
                <a:lnTo>
                  <a:pt x="1475626" y="4481287"/>
                </a:lnTo>
                <a:close/>
                <a:moveTo>
                  <a:pt x="0" y="1510873"/>
                </a:moveTo>
                <a:lnTo>
                  <a:pt x="6244914" y="1510873"/>
                </a:lnTo>
                <a:lnTo>
                  <a:pt x="6244914" y="2970413"/>
                </a:lnTo>
                <a:lnTo>
                  <a:pt x="733392" y="2970413"/>
                </a:lnTo>
                <a:close/>
                <a:moveTo>
                  <a:pt x="723088" y="0"/>
                </a:moveTo>
                <a:lnTo>
                  <a:pt x="6244914" y="0"/>
                </a:lnTo>
                <a:lnTo>
                  <a:pt x="6244914" y="1459540"/>
                </a:lnTo>
                <a:lnTo>
                  <a:pt x="0" y="1459540"/>
                </a:lnTo>
                <a:close/>
              </a:path>
            </a:pathLst>
          </a:custGeom>
        </p:spPr>
        <p:txBody>
          <a:bodyPr wrap="square" anchor="ctr" anchorCtr="1">
            <a:noAutofit/>
          </a:bodyPr>
          <a:lstStyle>
            <a:lvl1pPr marL="0" indent="0">
              <a:buNone/>
              <a:defRPr/>
            </a:lvl1pPr>
          </a:lstStyle>
          <a:p>
            <a:r>
              <a:rPr lang="en-US"/>
              <a:t>Click icon to add picture</a:t>
            </a:r>
          </a:p>
        </p:txBody>
      </p:sp>
      <p:sp>
        <p:nvSpPr>
          <p:cNvPr id="3" name="TextBox 2">
            <a:extLst>
              <a:ext uri="{FF2B5EF4-FFF2-40B4-BE49-F238E27FC236}">
                <a16:creationId xmlns:a16="http://schemas.microsoft.com/office/drawing/2014/main" id="{B4558E59-0568-6092-935C-656EAD62A42A}"/>
              </a:ext>
            </a:extLst>
          </p:cNvPr>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12901722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xt with picture (strip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8791" y="177283"/>
            <a:ext cx="8723920" cy="801663"/>
          </a:xfrm>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14" name="Text Placeholder 13"/>
          <p:cNvSpPr>
            <a:spLocks noGrp="1"/>
          </p:cNvSpPr>
          <p:nvPr>
            <p:ph type="body" sz="quarter" idx="11"/>
          </p:nvPr>
        </p:nvSpPr>
        <p:spPr>
          <a:xfrm>
            <a:off x="409576" y="1389063"/>
            <a:ext cx="5212292" cy="4662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p:cNvSpPr>
            <a:spLocks noGrp="1"/>
          </p:cNvSpPr>
          <p:nvPr>
            <p:ph type="pic" sz="quarter" idx="12"/>
          </p:nvPr>
        </p:nvSpPr>
        <p:spPr>
          <a:xfrm>
            <a:off x="5856088" y="1"/>
            <a:ext cx="6335912" cy="6263859"/>
          </a:xfrm>
          <a:custGeom>
            <a:avLst/>
            <a:gdLst>
              <a:gd name="connsiteX0" fmla="*/ 6335911 w 6335912"/>
              <a:gd name="connsiteY0" fmla="*/ 2555883 h 6263859"/>
              <a:gd name="connsiteX1" fmla="*/ 6335911 w 6335912"/>
              <a:gd name="connsiteY1" fmla="*/ 4093940 h 6263859"/>
              <a:gd name="connsiteX2" fmla="*/ 2473897 w 6335912"/>
              <a:gd name="connsiteY2" fmla="*/ 6182304 h 6263859"/>
              <a:gd name="connsiteX3" fmla="*/ 1634032 w 6335912"/>
              <a:gd name="connsiteY3" fmla="*/ 6022415 h 6263859"/>
              <a:gd name="connsiteX4" fmla="*/ 1557097 w 6335912"/>
              <a:gd name="connsiteY4" fmla="*/ 5909031 h 6263859"/>
              <a:gd name="connsiteX5" fmla="*/ 1504339 w 6335912"/>
              <a:gd name="connsiteY5" fmla="*/ 5782574 h 6263859"/>
              <a:gd name="connsiteX6" fmla="*/ 1830371 w 6335912"/>
              <a:gd name="connsiteY6" fmla="*/ 4992231 h 6263859"/>
              <a:gd name="connsiteX7" fmla="*/ 6335912 w 6335912"/>
              <a:gd name="connsiteY7" fmla="*/ 1016220 h 6263859"/>
              <a:gd name="connsiteX8" fmla="*/ 6335912 w 6335912"/>
              <a:gd name="connsiteY8" fmla="*/ 2459009 h 6263859"/>
              <a:gd name="connsiteX9" fmla="*/ 936517 w 6335912"/>
              <a:gd name="connsiteY9" fmla="*/ 5378703 h 6263859"/>
              <a:gd name="connsiteX10" fmla="*/ 148674 w 6335912"/>
              <a:gd name="connsiteY10" fmla="*/ 5228717 h 6263859"/>
              <a:gd name="connsiteX11" fmla="*/ 76504 w 6335912"/>
              <a:gd name="connsiteY11" fmla="*/ 5122356 h 6263859"/>
              <a:gd name="connsiteX12" fmla="*/ 27015 w 6335912"/>
              <a:gd name="connsiteY12" fmla="*/ 5003733 h 6263859"/>
              <a:gd name="connsiteX13" fmla="*/ 332851 w 6335912"/>
              <a:gd name="connsiteY13" fmla="*/ 4262345 h 6263859"/>
              <a:gd name="connsiteX14" fmla="*/ 5370853 w 6335912"/>
              <a:gd name="connsiteY14" fmla="*/ 0 h 6263859"/>
              <a:gd name="connsiteX15" fmla="*/ 6335912 w 6335912"/>
              <a:gd name="connsiteY15" fmla="*/ 0 h 6263859"/>
              <a:gd name="connsiteX16" fmla="*/ 6335910 w 6335912"/>
              <a:gd name="connsiteY16" fmla="*/ 920939 h 6263859"/>
              <a:gd name="connsiteX17" fmla="*/ 1426128 w 6335912"/>
              <a:gd name="connsiteY17" fmla="*/ 3575878 h 6263859"/>
              <a:gd name="connsiteX18" fmla="*/ 638286 w 6335912"/>
              <a:gd name="connsiteY18" fmla="*/ 3425891 h 6263859"/>
              <a:gd name="connsiteX19" fmla="*/ 566116 w 6335912"/>
              <a:gd name="connsiteY19" fmla="*/ 3319531 h 6263859"/>
              <a:gd name="connsiteX20" fmla="*/ 516627 w 6335912"/>
              <a:gd name="connsiteY20" fmla="*/ 3200907 h 6263859"/>
              <a:gd name="connsiteX21" fmla="*/ 822463 w 6335912"/>
              <a:gd name="connsiteY21" fmla="*/ 2459519 h 6263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35912" h="6263859">
                <a:moveTo>
                  <a:pt x="6335911" y="2555883"/>
                </a:moveTo>
                <a:lnTo>
                  <a:pt x="6335911" y="4093940"/>
                </a:lnTo>
                <a:lnTo>
                  <a:pt x="2473897" y="6182304"/>
                </a:lnTo>
                <a:cubicBezTo>
                  <a:pt x="2186346" y="6337796"/>
                  <a:pt x="1836138" y="6263560"/>
                  <a:pt x="1634032" y="6022415"/>
                </a:cubicBezTo>
                <a:lnTo>
                  <a:pt x="1557097" y="5909031"/>
                </a:lnTo>
                <a:lnTo>
                  <a:pt x="1504339" y="5782574"/>
                </a:lnTo>
                <a:cubicBezTo>
                  <a:pt x="1413202" y="5481421"/>
                  <a:pt x="1542819" y="5147723"/>
                  <a:pt x="1830371" y="4992231"/>
                </a:cubicBezTo>
                <a:close/>
                <a:moveTo>
                  <a:pt x="6335912" y="1016220"/>
                </a:moveTo>
                <a:lnTo>
                  <a:pt x="6335912" y="2459009"/>
                </a:lnTo>
                <a:lnTo>
                  <a:pt x="936517" y="5378703"/>
                </a:lnTo>
                <a:cubicBezTo>
                  <a:pt x="666777" y="5524564"/>
                  <a:pt x="338262" y="5454925"/>
                  <a:pt x="148674" y="5228717"/>
                </a:cubicBezTo>
                <a:lnTo>
                  <a:pt x="76504" y="5122356"/>
                </a:lnTo>
                <a:lnTo>
                  <a:pt x="27015" y="5003733"/>
                </a:lnTo>
                <a:cubicBezTo>
                  <a:pt x="-58478" y="4721235"/>
                  <a:pt x="63112" y="4408205"/>
                  <a:pt x="332851" y="4262345"/>
                </a:cubicBezTo>
                <a:close/>
                <a:moveTo>
                  <a:pt x="5370853" y="0"/>
                </a:moveTo>
                <a:lnTo>
                  <a:pt x="6335912" y="0"/>
                </a:lnTo>
                <a:lnTo>
                  <a:pt x="6335910" y="920939"/>
                </a:lnTo>
                <a:lnTo>
                  <a:pt x="1426128" y="3575878"/>
                </a:lnTo>
                <a:cubicBezTo>
                  <a:pt x="1156389" y="3721738"/>
                  <a:pt x="827875" y="3652099"/>
                  <a:pt x="638286" y="3425891"/>
                </a:cubicBezTo>
                <a:lnTo>
                  <a:pt x="566116" y="3319531"/>
                </a:lnTo>
                <a:lnTo>
                  <a:pt x="516627" y="3200907"/>
                </a:lnTo>
                <a:cubicBezTo>
                  <a:pt x="431135" y="2918409"/>
                  <a:pt x="552724" y="2605379"/>
                  <a:pt x="822463" y="2459519"/>
                </a:cubicBezTo>
                <a:close/>
              </a:path>
            </a:pathLst>
          </a:custGeom>
        </p:spPr>
        <p:txBody>
          <a:bodyPr wrap="square" anchor="ctr" anchorCtr="1">
            <a:noAutofit/>
          </a:bodyPr>
          <a:lstStyle>
            <a:lvl1pPr marL="0" indent="0">
              <a:buNone/>
              <a:defRPr/>
            </a:lvl1pPr>
          </a:lstStyle>
          <a:p>
            <a:r>
              <a:rPr lang="en-US"/>
              <a:t>Click icon to add picture</a:t>
            </a:r>
          </a:p>
        </p:txBody>
      </p:sp>
      <p:sp>
        <p:nvSpPr>
          <p:cNvPr id="3" name="TextBox 2">
            <a:extLst>
              <a:ext uri="{FF2B5EF4-FFF2-40B4-BE49-F238E27FC236}">
                <a16:creationId xmlns:a16="http://schemas.microsoft.com/office/drawing/2014/main" id="{B80DC366-4881-FB8C-BCD0-7D0C7F636B2C}"/>
              </a:ext>
            </a:extLst>
          </p:cNvPr>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3173206152"/>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6096000" y="1"/>
            <a:ext cx="6095999" cy="6324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hasCustomPrompt="1"/>
          </p:nvPr>
        </p:nvSpPr>
        <p:spPr>
          <a:xfrm>
            <a:off x="361950" y="352977"/>
            <a:ext cx="5448300" cy="1418889"/>
          </a:xfrm>
        </p:spPr>
        <p:txBody>
          <a:bodyPr anchor="b"/>
          <a:lstStyle>
            <a:lvl1pPr algn="ctr">
              <a:defRPr sz="3200"/>
            </a:lvl1pPr>
          </a:lstStyle>
          <a:p>
            <a:r>
              <a:rPr lang="en-US"/>
              <a:t>Click to edit title</a:t>
            </a:r>
          </a:p>
        </p:txBody>
      </p:sp>
      <p:sp>
        <p:nvSpPr>
          <p:cNvPr id="4" name="Text Placeholder 3"/>
          <p:cNvSpPr>
            <a:spLocks noGrp="1"/>
          </p:cNvSpPr>
          <p:nvPr>
            <p:ph type="body" sz="half" idx="2"/>
          </p:nvPr>
        </p:nvSpPr>
        <p:spPr>
          <a:xfrm>
            <a:off x="361950" y="2043953"/>
            <a:ext cx="5448300" cy="38250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Rectangle 9">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5" name="TextBox 4">
            <a:extLst>
              <a:ext uri="{FF2B5EF4-FFF2-40B4-BE49-F238E27FC236}">
                <a16:creationId xmlns:a16="http://schemas.microsoft.com/office/drawing/2014/main" id="{3051C06A-79F7-AB7F-1A85-F58DB105ED00}"/>
              </a:ext>
            </a:extLst>
          </p:cNvPr>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1775311547"/>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8" name="Rectangle 7">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3" name="TextBox 2">
            <a:extLst>
              <a:ext uri="{FF2B5EF4-FFF2-40B4-BE49-F238E27FC236}">
                <a16:creationId xmlns:a16="http://schemas.microsoft.com/office/drawing/2014/main" id="{4BBF6CFA-A3FF-BE78-7BEB-17D6679351A5}"/>
              </a:ext>
            </a:extLst>
          </p:cNvPr>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138296432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12667" y="6373156"/>
            <a:ext cx="2149533" cy="394974"/>
          </a:xfrm>
          <a:prstGeom prst="rect">
            <a:avLst/>
          </a:prstGeom>
        </p:spPr>
      </p:pic>
      <p:sp>
        <p:nvSpPr>
          <p:cNvPr id="2" name="TextBox 1">
            <a:extLst>
              <a:ext uri="{FF2B5EF4-FFF2-40B4-BE49-F238E27FC236}">
                <a16:creationId xmlns:a16="http://schemas.microsoft.com/office/drawing/2014/main" id="{456BACCC-161D-2585-4C71-08DFC74DEFA4}"/>
              </a:ext>
            </a:extLst>
          </p:cNvPr>
          <p:cNvSpPr txBox="1"/>
          <p:nvPr userDrawn="1"/>
        </p:nvSpPr>
        <p:spPr>
          <a:xfrm>
            <a:off x="9104936" y="6398798"/>
            <a:ext cx="3087064"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Science.osti.gov/Initiatives/QIS</a:t>
            </a:r>
          </a:p>
        </p:txBody>
      </p:sp>
    </p:spTree>
    <p:extLst>
      <p:ext uri="{BB962C8B-B14F-4D97-AF65-F5344CB8AC3E}">
        <p14:creationId xmlns:p14="http://schemas.microsoft.com/office/powerpoint/2010/main" val="2659002901"/>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8791" y="177283"/>
            <a:ext cx="11317044" cy="801663"/>
          </a:xfrm>
          <a:prstGeom prst="rect">
            <a:avLst/>
          </a:prstGeom>
        </p:spPr>
        <p:txBody>
          <a:bodyPr vert="horz" lIns="91440" tIns="45720" rIns="91440" bIns="45720" rtlCol="0" anchor="ctr">
            <a:normAutofit/>
          </a:bodyPr>
          <a:lstStyle/>
          <a:p>
            <a:r>
              <a:rPr lang="en-US"/>
              <a:t>Click to edit title</a:t>
            </a:r>
          </a:p>
        </p:txBody>
      </p:sp>
      <p:sp>
        <p:nvSpPr>
          <p:cNvPr id="3" name="Text Placeholder 2"/>
          <p:cNvSpPr>
            <a:spLocks noGrp="1"/>
          </p:cNvSpPr>
          <p:nvPr>
            <p:ph type="body" idx="1"/>
          </p:nvPr>
        </p:nvSpPr>
        <p:spPr>
          <a:xfrm>
            <a:off x="408791" y="1194099"/>
            <a:ext cx="11317044" cy="4982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pPr/>
              <a:t>‹#›</a:t>
            </a:fld>
            <a:endParaRPr lang="en-US"/>
          </a:p>
        </p:txBody>
      </p:sp>
    </p:spTree>
    <p:extLst>
      <p:ext uri="{BB962C8B-B14F-4D97-AF65-F5344CB8AC3E}">
        <p14:creationId xmlns:p14="http://schemas.microsoft.com/office/powerpoint/2010/main" val="1250377648"/>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hf hdr="0" dt="0"/>
  <p:txStyles>
    <p:titleStyle>
      <a:lvl1pPr algn="l" defTabSz="914400" rtl="0" eaLnBrk="1" latinLnBrk="0" hangingPunct="1">
        <a:lnSpc>
          <a:spcPct val="90000"/>
        </a:lnSpc>
        <a:spcBef>
          <a:spcPct val="0"/>
        </a:spcBef>
        <a:buNone/>
        <a:defRPr sz="4000" b="1" kern="1200">
          <a:solidFill>
            <a:schemeClr val="tx1"/>
          </a:solidFill>
          <a:latin typeface="+mj-lt"/>
          <a:ea typeface="Segoe UI Black" panose="020B0A02040204020203" pitchFamily="34" charset="0"/>
          <a:cs typeface="+mj-cs"/>
        </a:defRPr>
      </a:lvl1pPr>
    </p:titleStyle>
    <p:bodyStyle>
      <a:lvl1pPr marL="228600" indent="-228600" algn="l" defTabSz="914400" rtl="0" eaLnBrk="1" latinLnBrk="0" hangingPunct="1">
        <a:lnSpc>
          <a:spcPct val="90000"/>
        </a:lnSpc>
        <a:spcBef>
          <a:spcPts val="1000"/>
        </a:spcBef>
        <a:buClrTx/>
        <a:buFont typeface="Arial" panose="020B0604020202020204" pitchFamily="34" charset="0"/>
        <a:buChar char="•"/>
        <a:defRPr sz="2400" kern="1200">
          <a:solidFill>
            <a:schemeClr val="tx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ClrTx/>
        <a:buFontTx/>
        <a:buChar char="◦"/>
        <a:defRPr sz="2000" kern="1200">
          <a:solidFill>
            <a:schemeClr val="tx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ClrTx/>
        <a:buFont typeface="Wingdings" panose="05000000000000000000" pitchFamily="2" charset="2"/>
        <a:buChar char="§"/>
        <a:defRPr sz="1800" kern="1200">
          <a:solidFill>
            <a:schemeClr val="tx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FCE1893-9267-6288-98F6-155BABD77690}"/>
              </a:ext>
            </a:extLst>
          </p:cNvPr>
          <p:cNvSpPr>
            <a:spLocks noGrp="1"/>
          </p:cNvSpPr>
          <p:nvPr>
            <p:ph type="title"/>
          </p:nvPr>
        </p:nvSpPr>
        <p:spPr/>
        <p:txBody>
          <a:bodyPr>
            <a:noAutofit/>
          </a:bodyPr>
          <a:lstStyle/>
          <a:p>
            <a:r>
              <a:rPr lang="en-US"/>
              <a:t>Highlight Format Template – Slide 1</a:t>
            </a:r>
          </a:p>
        </p:txBody>
      </p:sp>
      <p:sp>
        <p:nvSpPr>
          <p:cNvPr id="10" name="Content Placeholder 9">
            <a:extLst>
              <a:ext uri="{FF2B5EF4-FFF2-40B4-BE49-F238E27FC236}">
                <a16:creationId xmlns:a16="http://schemas.microsoft.com/office/drawing/2014/main" id="{14EB4088-B169-1031-8FD6-8EFA353D45B7}"/>
              </a:ext>
            </a:extLst>
          </p:cNvPr>
          <p:cNvSpPr>
            <a:spLocks noGrp="1"/>
          </p:cNvSpPr>
          <p:nvPr>
            <p:ph sz="quarter" idx="13"/>
          </p:nvPr>
        </p:nvSpPr>
        <p:spPr>
          <a:xfrm>
            <a:off x="5484242" y="989793"/>
            <a:ext cx="6536773" cy="1385422"/>
          </a:xfrm>
          <a:noFill/>
        </p:spPr>
        <p:txBody>
          <a:bodyPr>
            <a:noAutofit/>
          </a:bodyPr>
          <a:lstStyle/>
          <a:p>
            <a:pPr marL="0" indent="0">
              <a:spcBef>
                <a:spcPts val="0"/>
              </a:spcBef>
              <a:buNone/>
            </a:pPr>
            <a:r>
              <a:rPr lang="en-US" b="1">
                <a:solidFill>
                  <a:schemeClr val="tx1"/>
                </a:solidFill>
              </a:rPr>
              <a:t>Scientific Achievement</a:t>
            </a:r>
          </a:p>
          <a:p>
            <a:pPr marL="234950" indent="0">
              <a:spcBef>
                <a:spcPts val="0"/>
              </a:spcBef>
              <a:buNone/>
            </a:pPr>
            <a:r>
              <a:rPr lang="en-US">
                <a:solidFill>
                  <a:schemeClr val="tx1"/>
                </a:solidFill>
                <a:latin typeface="+mj-lt"/>
              </a:rPr>
              <a:t>Text that presents what was learned, not what was done</a:t>
            </a:r>
          </a:p>
        </p:txBody>
      </p:sp>
      <p:sp>
        <p:nvSpPr>
          <p:cNvPr id="12" name="Content Placeholder 9">
            <a:extLst>
              <a:ext uri="{FF2B5EF4-FFF2-40B4-BE49-F238E27FC236}">
                <a16:creationId xmlns:a16="http://schemas.microsoft.com/office/drawing/2014/main" id="{311627D7-0024-BDD1-9FAB-1D8F70E72D4F}"/>
              </a:ext>
            </a:extLst>
          </p:cNvPr>
          <p:cNvSpPr txBox="1">
            <a:spLocks/>
          </p:cNvSpPr>
          <p:nvPr/>
        </p:nvSpPr>
        <p:spPr>
          <a:xfrm>
            <a:off x="5484242" y="2389934"/>
            <a:ext cx="6536773" cy="1385422"/>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Tx/>
              <a:buFont typeface="Arial" panose="020B0604020202020204" pitchFamily="34" charset="0"/>
              <a:buChar char="•"/>
              <a:defRPr sz="2400" kern="1200">
                <a:solidFill>
                  <a:schemeClr val="bg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ClrTx/>
              <a:buFontTx/>
              <a:buChar char="◦"/>
              <a:defRPr sz="2000" kern="1200">
                <a:solidFill>
                  <a:schemeClr val="bg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ClrTx/>
              <a:buFont typeface="Wingdings" panose="05000000000000000000" pitchFamily="2" charset="2"/>
              <a:buChar char="§"/>
              <a:defRPr sz="1800" kern="1200">
                <a:solidFill>
                  <a:schemeClr val="bg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pPr>
            <a:r>
              <a:rPr lang="en-US" b="1">
                <a:solidFill>
                  <a:schemeClr val="tx1"/>
                </a:solidFill>
              </a:rPr>
              <a:t>Significance and Impact</a:t>
            </a:r>
          </a:p>
          <a:p>
            <a:pPr marL="234950" indent="0" fontAlgn="auto">
              <a:spcBef>
                <a:spcPts val="0"/>
              </a:spcBef>
              <a:spcAft>
                <a:spcPts val="0"/>
              </a:spcAft>
              <a:buFont typeface="Arial" panose="020B0604020202020204" pitchFamily="34" charset="0"/>
              <a:buNone/>
            </a:pPr>
            <a:r>
              <a:rPr lang="en-US">
                <a:solidFill>
                  <a:schemeClr val="tx1"/>
                </a:solidFill>
                <a:latin typeface="+mj-lt"/>
              </a:rPr>
              <a:t>Identify why the achievement is important</a:t>
            </a:r>
          </a:p>
        </p:txBody>
      </p:sp>
      <p:sp>
        <p:nvSpPr>
          <p:cNvPr id="13" name="Content Placeholder 9">
            <a:extLst>
              <a:ext uri="{FF2B5EF4-FFF2-40B4-BE49-F238E27FC236}">
                <a16:creationId xmlns:a16="http://schemas.microsoft.com/office/drawing/2014/main" id="{05E42D4C-C293-A270-3482-D0D3188677B8}"/>
              </a:ext>
            </a:extLst>
          </p:cNvPr>
          <p:cNvSpPr txBox="1">
            <a:spLocks/>
          </p:cNvSpPr>
          <p:nvPr/>
        </p:nvSpPr>
        <p:spPr>
          <a:xfrm>
            <a:off x="5484242" y="3790075"/>
            <a:ext cx="6536773" cy="1385422"/>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Tx/>
              <a:buFont typeface="Arial" panose="020B0604020202020204" pitchFamily="34" charset="0"/>
              <a:buChar char="•"/>
              <a:defRPr sz="2400" kern="1200">
                <a:solidFill>
                  <a:schemeClr val="bg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ClrTx/>
              <a:buFontTx/>
              <a:buChar char="◦"/>
              <a:defRPr sz="2000" kern="1200">
                <a:solidFill>
                  <a:schemeClr val="bg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ClrTx/>
              <a:buFont typeface="Wingdings" panose="05000000000000000000" pitchFamily="2" charset="2"/>
              <a:buChar char="§"/>
              <a:defRPr sz="1800" kern="1200">
                <a:solidFill>
                  <a:schemeClr val="bg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pPr>
            <a:r>
              <a:rPr lang="en-US" b="1">
                <a:solidFill>
                  <a:schemeClr val="tx1"/>
                </a:solidFill>
              </a:rPr>
              <a:t>Research Details</a:t>
            </a:r>
          </a:p>
          <a:p>
            <a:pPr marL="577850" indent="-342900" fontAlgn="auto">
              <a:spcBef>
                <a:spcPts val="0"/>
              </a:spcBef>
              <a:spcAft>
                <a:spcPts val="0"/>
              </a:spcAft>
            </a:pPr>
            <a:r>
              <a:rPr lang="en-US" sz="2000">
                <a:solidFill>
                  <a:schemeClr val="tx1"/>
                </a:solidFill>
                <a:latin typeface="+mj-lt"/>
              </a:rPr>
              <a:t>List of what was done</a:t>
            </a:r>
          </a:p>
        </p:txBody>
      </p:sp>
      <p:sp>
        <p:nvSpPr>
          <p:cNvPr id="15" name="TextBox 14">
            <a:extLst>
              <a:ext uri="{FF2B5EF4-FFF2-40B4-BE49-F238E27FC236}">
                <a16:creationId xmlns:a16="http://schemas.microsoft.com/office/drawing/2014/main" id="{A37795C4-1134-C34E-9226-C01F90DB8A45}"/>
              </a:ext>
            </a:extLst>
          </p:cNvPr>
          <p:cNvSpPr txBox="1"/>
          <p:nvPr/>
        </p:nvSpPr>
        <p:spPr>
          <a:xfrm>
            <a:off x="1779647" y="4510146"/>
            <a:ext cx="1883849" cy="307777"/>
          </a:xfrm>
          <a:prstGeom prst="rect">
            <a:avLst/>
          </a:prstGeom>
          <a:noFill/>
        </p:spPr>
        <p:txBody>
          <a:bodyPr wrap="none" rtlCol="0">
            <a:spAutoFit/>
          </a:bodyPr>
          <a:lstStyle/>
          <a:p>
            <a:r>
              <a:rPr lang="en-US" sz="1400" b="1" i="1"/>
              <a:t>Short figure caption</a:t>
            </a:r>
          </a:p>
        </p:txBody>
      </p:sp>
      <p:sp>
        <p:nvSpPr>
          <p:cNvPr id="16" name="Rectangle 15">
            <a:extLst>
              <a:ext uri="{FF2B5EF4-FFF2-40B4-BE49-F238E27FC236}">
                <a16:creationId xmlns:a16="http://schemas.microsoft.com/office/drawing/2014/main" id="{9763A6DD-BF1C-EF64-4388-8AA569299DA7}"/>
              </a:ext>
            </a:extLst>
          </p:cNvPr>
          <p:cNvSpPr/>
          <p:nvPr/>
        </p:nvSpPr>
        <p:spPr>
          <a:xfrm>
            <a:off x="193460" y="5724412"/>
            <a:ext cx="3982729" cy="507831"/>
          </a:xfrm>
          <a:prstGeom prst="rect">
            <a:avLst/>
          </a:prstGeom>
          <a:noFill/>
        </p:spPr>
        <p:txBody>
          <a:bodyPr wrap="square">
            <a:spAutoFit/>
          </a:bodyPr>
          <a:lstStyle/>
          <a:p>
            <a:pPr fontAlgn="auto">
              <a:spcBef>
                <a:spcPts val="600"/>
              </a:spcBef>
              <a:spcAft>
                <a:spcPts val="0"/>
              </a:spcAft>
            </a:pPr>
            <a:r>
              <a:rPr lang="en-US" sz="1100">
                <a:latin typeface="Arial" panose="020B0604020202020204" pitchFamily="34" charset="0"/>
                <a:cs typeface="Arial" panose="020B0604020202020204" pitchFamily="34" charset="0"/>
              </a:rPr>
              <a:t>Reference(s). Include DOI.</a:t>
            </a:r>
            <a:endParaRPr lang="fi-FI" sz="1100">
              <a:latin typeface="Arial" panose="020B0604020202020204" pitchFamily="34" charset="0"/>
              <a:cs typeface="Arial" panose="020B0604020202020204" pitchFamily="34" charset="0"/>
            </a:endParaRPr>
          </a:p>
          <a:p>
            <a:pPr fontAlgn="auto">
              <a:spcBef>
                <a:spcPts val="600"/>
              </a:spcBef>
              <a:spcAft>
                <a:spcPts val="0"/>
              </a:spcAft>
            </a:pPr>
            <a:r>
              <a:rPr lang="fi-FI" sz="1100">
                <a:latin typeface="Arial" panose="020B0604020202020204" pitchFamily="34" charset="0"/>
                <a:cs typeface="Arial" panose="020B0604020202020204" pitchFamily="34" charset="0"/>
              </a:rPr>
              <a:t>Acknowledge user facilities if appropriate</a:t>
            </a:r>
            <a:endParaRPr lang="en-US" sz="110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EB0BA70-1924-87EA-983C-0DFD327E7054}"/>
              </a:ext>
            </a:extLst>
          </p:cNvPr>
          <p:cNvSpPr txBox="1"/>
          <p:nvPr/>
        </p:nvSpPr>
        <p:spPr>
          <a:xfrm>
            <a:off x="7816655" y="5978328"/>
            <a:ext cx="4375345" cy="383709"/>
          </a:xfrm>
          <a:prstGeom prst="rect">
            <a:avLst/>
          </a:prstGeom>
          <a:noFill/>
        </p:spPr>
        <p:txBody>
          <a:bodyPr wrap="square" rtlCol="0">
            <a:spAutoFit/>
          </a:bodyPr>
          <a:lstStyle/>
          <a:p>
            <a:r>
              <a:rPr lang="en-US">
                <a:latin typeface="+mn-lt"/>
              </a:rPr>
              <a:t>Institution logos can go along the bottom</a:t>
            </a:r>
          </a:p>
        </p:txBody>
      </p:sp>
      <p:sp>
        <p:nvSpPr>
          <p:cNvPr id="20" name="Rectangle: Rounded Corners 19">
            <a:extLst>
              <a:ext uri="{FF2B5EF4-FFF2-40B4-BE49-F238E27FC236}">
                <a16:creationId xmlns:a16="http://schemas.microsoft.com/office/drawing/2014/main" id="{BD35C120-5C53-24DB-B414-FF419647489F}"/>
              </a:ext>
            </a:extLst>
          </p:cNvPr>
          <p:cNvSpPr/>
          <p:nvPr/>
        </p:nvSpPr>
        <p:spPr>
          <a:xfrm>
            <a:off x="548770" y="989793"/>
            <a:ext cx="4181706" cy="352035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t>Image(s)</a:t>
            </a:r>
          </a:p>
        </p:txBody>
      </p:sp>
    </p:spTree>
    <p:extLst>
      <p:ext uri="{BB962C8B-B14F-4D97-AF65-F5344CB8AC3E}">
        <p14:creationId xmlns:p14="http://schemas.microsoft.com/office/powerpoint/2010/main" val="2462861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FBEFE-3ED1-CB9B-416A-672ABEF1528E}"/>
              </a:ext>
            </a:extLst>
          </p:cNvPr>
          <p:cNvSpPr>
            <a:spLocks noGrp="1"/>
          </p:cNvSpPr>
          <p:nvPr>
            <p:ph type="title"/>
          </p:nvPr>
        </p:nvSpPr>
        <p:spPr/>
        <p:txBody>
          <a:bodyPr/>
          <a:lstStyle/>
          <a:p>
            <a:r>
              <a:rPr lang="en-US"/>
              <a:t>Highlight Format Template – Slide 2</a:t>
            </a:r>
          </a:p>
        </p:txBody>
      </p:sp>
      <p:sp>
        <p:nvSpPr>
          <p:cNvPr id="6" name="Content Placeholder 5">
            <a:extLst>
              <a:ext uri="{FF2B5EF4-FFF2-40B4-BE49-F238E27FC236}">
                <a16:creationId xmlns:a16="http://schemas.microsoft.com/office/drawing/2014/main" id="{DFFCBDDB-B982-378C-44F1-9297DCBCC82B}"/>
              </a:ext>
            </a:extLst>
          </p:cNvPr>
          <p:cNvSpPr>
            <a:spLocks noGrp="1"/>
          </p:cNvSpPr>
          <p:nvPr>
            <p:ph idx="1"/>
          </p:nvPr>
        </p:nvSpPr>
        <p:spPr/>
        <p:txBody>
          <a:bodyPr/>
          <a:lstStyle/>
          <a:p>
            <a:r>
              <a:rPr lang="en-US" b="1"/>
              <a:t>NQISRC In	tellectual</a:t>
            </a:r>
            <a:r>
              <a:rPr lang="en-US" b="1" dirty="0"/>
              <a:t> Role: </a:t>
            </a:r>
            <a:r>
              <a:rPr lang="en-US" i="1" dirty="0"/>
              <a:t>[Lead/Collaborator/Minor]</a:t>
            </a:r>
            <a:endParaRPr lang="en-US" b="1" i="1" dirty="0"/>
          </a:p>
          <a:p>
            <a:r>
              <a:rPr lang="en-US" b="1" dirty="0"/>
              <a:t>NQISRC Funding Role: </a:t>
            </a:r>
            <a:r>
              <a:rPr lang="en-US" i="1" dirty="0"/>
              <a:t>[Sole/Majority/Minority]</a:t>
            </a:r>
            <a:endParaRPr lang="en-US" b="1" i="1" dirty="0"/>
          </a:p>
          <a:p>
            <a:r>
              <a:rPr lang="en-US" b="1" dirty="0"/>
              <a:t>Explanation of Funding Institution Contributions</a:t>
            </a:r>
          </a:p>
          <a:p>
            <a:pPr lvl="1"/>
            <a:r>
              <a:rPr lang="en-US" i="1" dirty="0"/>
              <a:t>Funder1: &lt;..&gt;</a:t>
            </a:r>
          </a:p>
          <a:p>
            <a:pPr lvl="1"/>
            <a:r>
              <a:rPr lang="en-US" i="1" dirty="0"/>
              <a:t>Funder 2: &lt;…&gt;</a:t>
            </a:r>
            <a:endParaRPr lang="en-US" b="1" i="1" dirty="0"/>
          </a:p>
          <a:p>
            <a:endParaRPr lang="en-US" i="1" dirty="0"/>
          </a:p>
        </p:txBody>
      </p:sp>
      <p:sp>
        <p:nvSpPr>
          <p:cNvPr id="3" name="Slide Number Placeholder 2">
            <a:extLst>
              <a:ext uri="{FF2B5EF4-FFF2-40B4-BE49-F238E27FC236}">
                <a16:creationId xmlns:a16="http://schemas.microsoft.com/office/drawing/2014/main" id="{346AF7CD-4E71-A8F3-0708-F74B912F84C8}"/>
              </a:ext>
            </a:extLst>
          </p:cNvPr>
          <p:cNvSpPr>
            <a:spLocks noGrp="1"/>
          </p:cNvSpPr>
          <p:nvPr>
            <p:ph type="sldNum" sz="quarter" idx="4"/>
          </p:nvPr>
        </p:nvSpPr>
        <p:spPr/>
        <p:txBody>
          <a:bodyPr/>
          <a:lstStyle/>
          <a:p>
            <a:fld id="{835B6AD7-18B8-4C9C-AA70-ABD830A869AC}" type="slidenum">
              <a:rPr lang="en-US" smtClean="0"/>
              <a:pPr/>
              <a:t>2</a:t>
            </a:fld>
            <a:endParaRPr lang="en-US"/>
          </a:p>
        </p:txBody>
      </p:sp>
    </p:spTree>
    <p:extLst>
      <p:ext uri="{BB962C8B-B14F-4D97-AF65-F5344CB8AC3E}">
        <p14:creationId xmlns:p14="http://schemas.microsoft.com/office/powerpoint/2010/main" val="1075207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US"/>
              <a:t>How to Build a DOE Office of Science Highlight Slide</a:t>
            </a:r>
          </a:p>
        </p:txBody>
      </p:sp>
      <p:sp>
        <p:nvSpPr>
          <p:cNvPr id="2" name="Content Placeholder 1"/>
          <p:cNvSpPr>
            <a:spLocks noGrp="1"/>
          </p:cNvSpPr>
          <p:nvPr>
            <p:ph idx="1"/>
          </p:nvPr>
        </p:nvSpPr>
        <p:spPr/>
        <p:txBody>
          <a:bodyPr>
            <a:normAutofit/>
          </a:bodyPr>
          <a:lstStyle/>
          <a:p>
            <a:pPr>
              <a:buNone/>
            </a:pPr>
            <a:r>
              <a:rPr lang="en-US" b="1">
                <a:solidFill>
                  <a:srgbClr val="0B2C45"/>
                </a:solidFill>
              </a:rPr>
              <a:t>Purpose</a:t>
            </a:r>
          </a:p>
          <a:p>
            <a:pPr lvl="1">
              <a:buFont typeface="Arial" pitchFamily="34" charset="0"/>
              <a:buChar char="•"/>
            </a:pPr>
            <a:r>
              <a:rPr lang="en-US" sz="2000">
                <a:solidFill>
                  <a:schemeClr val="tx1"/>
                </a:solidFill>
              </a:rPr>
              <a:t>Convey current scientific and technical research results that are intriguing, succinct, relevant, and easily understood by both technical and non-technical communities.</a:t>
            </a:r>
          </a:p>
          <a:p>
            <a:pPr>
              <a:buNone/>
            </a:pPr>
            <a:r>
              <a:rPr lang="en-US" b="1">
                <a:solidFill>
                  <a:srgbClr val="0B2C45"/>
                </a:solidFill>
              </a:rPr>
              <a:t>Use</a:t>
            </a:r>
            <a:r>
              <a:rPr lang="en-US">
                <a:solidFill>
                  <a:srgbClr val="008000"/>
                </a:solidFill>
              </a:rPr>
              <a:t> </a:t>
            </a:r>
          </a:p>
          <a:p>
            <a:pPr lvl="1">
              <a:buFont typeface="Arial" pitchFamily="34" charset="0"/>
              <a:buChar char="•"/>
            </a:pPr>
            <a:r>
              <a:rPr lang="en-US" sz="2000">
                <a:solidFill>
                  <a:schemeClr val="tx1"/>
                </a:solidFill>
              </a:rPr>
              <a:t>Information can be employed and adapted for multiple uses, including meetings with other federal agencies, review committees, scientific panels, and budget meetings.</a:t>
            </a:r>
          </a:p>
          <a:p>
            <a:pPr lvl="1">
              <a:buFont typeface="Arial" pitchFamily="34" charset="0"/>
              <a:buChar char="•"/>
            </a:pPr>
            <a:r>
              <a:rPr lang="en-US" sz="2000">
                <a:solidFill>
                  <a:schemeClr val="tx1"/>
                </a:solidFill>
              </a:rPr>
              <a:t>Highlight text can also be a critical component of annual budget request documents that are reviewed by DOE senior leadership and Congress.</a:t>
            </a:r>
          </a:p>
          <a:p>
            <a:pPr>
              <a:buNone/>
            </a:pPr>
            <a:r>
              <a:rPr lang="en-US" b="1">
                <a:solidFill>
                  <a:srgbClr val="0B2C45"/>
                </a:solidFill>
              </a:rPr>
              <a:t>Needs</a:t>
            </a:r>
            <a:r>
              <a:rPr lang="en-US" b="1">
                <a:solidFill>
                  <a:srgbClr val="0F6636"/>
                </a:solidFill>
              </a:rPr>
              <a:t> </a:t>
            </a:r>
          </a:p>
          <a:p>
            <a:pPr lvl="1">
              <a:buFont typeface="Arial" pitchFamily="34" charset="0"/>
              <a:buChar char="•"/>
            </a:pPr>
            <a:r>
              <a:rPr lang="en-US" sz="2000">
                <a:solidFill>
                  <a:schemeClr val="tx1"/>
                </a:solidFill>
              </a:rPr>
              <a:t>It is exceptionally important to convey the importance or significance the research has on the particular research field.</a:t>
            </a:r>
          </a:p>
          <a:p>
            <a:pPr lvl="1">
              <a:buFont typeface="Arial" pitchFamily="34" charset="0"/>
              <a:buChar char="•"/>
            </a:pPr>
            <a:r>
              <a:rPr lang="en-US" sz="2000">
                <a:solidFill>
                  <a:schemeClr val="tx1"/>
                </a:solidFill>
              </a:rPr>
              <a:t>A standard format for scientific highlights helps the Office of Science to efficiently and effectively communicate research results to the public.</a:t>
            </a:r>
          </a:p>
        </p:txBody>
      </p:sp>
    </p:spTree>
    <p:extLst>
      <p:ext uri="{BB962C8B-B14F-4D97-AF65-F5344CB8AC3E}">
        <p14:creationId xmlns:p14="http://schemas.microsoft.com/office/powerpoint/2010/main" val="1904560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buNone/>
            </a:pPr>
            <a:r>
              <a:rPr lang="en-US" sz="2600" b="1">
                <a:solidFill>
                  <a:srgbClr val="0B2C45"/>
                </a:solidFill>
              </a:rPr>
              <a:t>Submission</a:t>
            </a:r>
          </a:p>
          <a:p>
            <a:pPr marL="457200" lvl="1" indent="-228600">
              <a:buFont typeface="Arial" pitchFamily="34" charset="0"/>
              <a:buChar char="•"/>
            </a:pPr>
            <a:r>
              <a:rPr lang="en-US" sz="2200">
                <a:solidFill>
                  <a:schemeClr val="tx1"/>
                </a:solidFill>
              </a:rPr>
              <a:t>Highlights should be submitted regularly to your Point of Contact (POC). In general, highlights should focus on a published, or soon to be published, paper. </a:t>
            </a:r>
          </a:p>
          <a:p>
            <a:pPr marL="914400" lvl="2">
              <a:buFont typeface="Arial" pitchFamily="34" charset="0"/>
              <a:buChar char="•"/>
            </a:pPr>
            <a:r>
              <a:rPr lang="en-US" sz="2000">
                <a:solidFill>
                  <a:schemeClr val="tx1"/>
                </a:solidFill>
              </a:rPr>
              <a:t>Information on publication timing, should be shared (in writing). </a:t>
            </a:r>
          </a:p>
          <a:p>
            <a:pPr marL="914400" lvl="2">
              <a:buFont typeface="Arial" pitchFamily="34" charset="0"/>
              <a:buChar char="•"/>
            </a:pPr>
            <a:r>
              <a:rPr lang="en-US" sz="2000">
                <a:solidFill>
                  <a:schemeClr val="tx1"/>
                </a:solidFill>
              </a:rPr>
              <a:t>Highlights involving sensitive information that would compromise patents, for example, should be shared via secure means, not as a highlight slide.  </a:t>
            </a:r>
          </a:p>
          <a:p>
            <a:pPr marL="457200" lvl="1" indent="-228600">
              <a:buNone/>
            </a:pPr>
            <a:endParaRPr lang="en-US" sz="1200">
              <a:solidFill>
                <a:schemeClr val="tx1"/>
              </a:solidFill>
            </a:endParaRPr>
          </a:p>
          <a:p>
            <a:pPr marL="457200" lvl="1" indent="-228600">
              <a:buFont typeface="Arial" pitchFamily="34" charset="0"/>
              <a:buChar char="•"/>
            </a:pPr>
            <a:r>
              <a:rPr lang="en-US" sz="2200">
                <a:solidFill>
                  <a:schemeClr val="tx1"/>
                </a:solidFill>
              </a:rPr>
              <a:t>Send your POC a copy the published paper (if available) or preprint if not yet published with the highlight. </a:t>
            </a:r>
          </a:p>
          <a:p>
            <a:pPr marL="457200" lvl="1" indent="-228600">
              <a:buFont typeface="Arial" pitchFamily="34" charset="0"/>
              <a:buChar char="•"/>
            </a:pPr>
            <a:endParaRPr lang="en-US" sz="1200">
              <a:solidFill>
                <a:schemeClr val="tx1"/>
              </a:solidFill>
            </a:endParaRPr>
          </a:p>
          <a:p>
            <a:pPr marL="457200" lvl="1" indent="-228600">
              <a:buFont typeface="Arial" pitchFamily="34" charset="0"/>
              <a:buChar char="•"/>
            </a:pPr>
            <a:r>
              <a:rPr lang="en-US" sz="2200">
                <a:solidFill>
                  <a:schemeClr val="tx1"/>
                </a:solidFill>
              </a:rPr>
              <a:t>If your institution has a press release (or planned press release), please forward to your POC.  </a:t>
            </a:r>
          </a:p>
          <a:p>
            <a:pPr marL="457200" lvl="1" indent="-228600">
              <a:buFont typeface="Arial" pitchFamily="34" charset="0"/>
              <a:buChar char="•"/>
            </a:pPr>
            <a:endParaRPr lang="en-US" sz="1000">
              <a:solidFill>
                <a:schemeClr val="tx1"/>
              </a:solidFill>
            </a:endParaRPr>
          </a:p>
          <a:p>
            <a:pPr marL="457200" lvl="1" indent="-228600">
              <a:buFont typeface="Arial" pitchFamily="34" charset="0"/>
              <a:buChar char="•"/>
            </a:pPr>
            <a:r>
              <a:rPr lang="en-US" sz="2200">
                <a:solidFill>
                  <a:schemeClr val="tx1"/>
                </a:solidFill>
              </a:rPr>
              <a:t>All graphics should be clear and large enough to be easily viewed. Keep resolution of the embedded graphic in mind.</a:t>
            </a:r>
          </a:p>
          <a:p>
            <a:pPr marL="457200" lvl="1" indent="-228600">
              <a:buNone/>
            </a:pPr>
            <a:endParaRPr lang="en-US" sz="1000">
              <a:solidFill>
                <a:srgbClr val="0B2C45"/>
              </a:solidFill>
            </a:endParaRPr>
          </a:p>
          <a:p>
            <a:pPr marL="225425" lvl="1" indent="3175" algn="ctr">
              <a:buNone/>
            </a:pPr>
            <a:r>
              <a:rPr lang="en-US" sz="2200" b="1">
                <a:solidFill>
                  <a:srgbClr val="0B2C45"/>
                </a:solidFill>
              </a:rPr>
              <a:t>Well crafted highlight slides may be presented by many different people with many different science backgrounds!</a:t>
            </a:r>
            <a:endParaRPr lang="en-US" sz="2200">
              <a:solidFill>
                <a:srgbClr val="0B2C45"/>
              </a:solidFill>
            </a:endParaRPr>
          </a:p>
          <a:p>
            <a:pPr>
              <a:buNone/>
            </a:pPr>
            <a:endParaRPr lang="en-US">
              <a:solidFill>
                <a:srgbClr val="008000"/>
              </a:solidFill>
            </a:endParaRPr>
          </a:p>
        </p:txBody>
      </p:sp>
      <p:sp>
        <p:nvSpPr>
          <p:cNvPr id="7" name="Title 2">
            <a:extLst>
              <a:ext uri="{FF2B5EF4-FFF2-40B4-BE49-F238E27FC236}">
                <a16:creationId xmlns:a16="http://schemas.microsoft.com/office/drawing/2014/main" id="{0AFDC9A3-5B61-04E6-C9C8-17F2D79991E1}"/>
              </a:ext>
            </a:extLst>
          </p:cNvPr>
          <p:cNvSpPr>
            <a:spLocks noGrp="1"/>
          </p:cNvSpPr>
          <p:nvPr>
            <p:ph type="title"/>
          </p:nvPr>
        </p:nvSpPr>
        <p:spPr>
          <a:xfrm>
            <a:off x="408791" y="177283"/>
            <a:ext cx="11317044" cy="801663"/>
          </a:xfrm>
        </p:spPr>
        <p:txBody>
          <a:bodyPr vert="horz" lIns="91440" tIns="45720" rIns="91440" bIns="45720" rtlCol="0" anchor="ctr">
            <a:normAutofit/>
          </a:bodyPr>
          <a:lstStyle/>
          <a:p>
            <a:r>
              <a:rPr lang="en-US"/>
              <a:t>How to Build a DOE Office of Science Highlight Slide</a:t>
            </a:r>
          </a:p>
        </p:txBody>
      </p:sp>
    </p:spTree>
    <p:extLst>
      <p:ext uri="{BB962C8B-B14F-4D97-AF65-F5344CB8AC3E}">
        <p14:creationId xmlns:p14="http://schemas.microsoft.com/office/powerpoint/2010/main" val="1032539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p:cNvSpPr>
            <a:spLocks noGrp="1"/>
          </p:cNvSpPr>
          <p:nvPr>
            <p:ph type="title"/>
          </p:nvPr>
        </p:nvSpPr>
        <p:spPr/>
        <p:txBody>
          <a:bodyPr vert="horz" lIns="91440" tIns="45720" rIns="91440" bIns="45720" rtlCol="0" anchor="ctr">
            <a:noAutofit/>
          </a:bodyPr>
          <a:lstStyle/>
          <a:p>
            <a:r>
              <a:rPr lang="en-US"/>
              <a:t>How to Build a DOE Office of Science Highlight Slide</a:t>
            </a:r>
          </a:p>
        </p:txBody>
      </p:sp>
      <p:sp>
        <p:nvSpPr>
          <p:cNvPr id="10" name="TextBox 9"/>
          <p:cNvSpPr txBox="1"/>
          <p:nvPr/>
        </p:nvSpPr>
        <p:spPr>
          <a:xfrm>
            <a:off x="459890" y="1084608"/>
            <a:ext cx="5972341" cy="830997"/>
          </a:xfrm>
          <a:prstGeom prst="rect">
            <a:avLst/>
          </a:prstGeom>
          <a:noFill/>
        </p:spPr>
        <p:txBody>
          <a:bodyPr wrap="none" rtlCol="0">
            <a:spAutoFit/>
          </a:bodyPr>
          <a:lstStyle/>
          <a:p>
            <a:r>
              <a:rPr lang="en-US" sz="2800" b="1">
                <a:solidFill>
                  <a:srgbClr val="0B2C45"/>
                </a:solidFill>
                <a:latin typeface="+mj-lt"/>
                <a:cs typeface="Arial" pitchFamily="34" charset="0"/>
              </a:rPr>
              <a:t>Title</a:t>
            </a:r>
            <a:endParaRPr lang="en-US" sz="2000" b="1">
              <a:solidFill>
                <a:srgbClr val="0B2C45"/>
              </a:solidFill>
              <a:latin typeface="+mj-lt"/>
              <a:cs typeface="Arial" pitchFamily="34" charset="0"/>
            </a:endParaRPr>
          </a:p>
          <a:p>
            <a:pPr marL="111125"/>
            <a:r>
              <a:rPr lang="en-US" sz="2000">
                <a:latin typeface="+mj-lt"/>
              </a:rPr>
              <a:t>Attention grabbing and accessible but not exaggerated</a:t>
            </a:r>
          </a:p>
        </p:txBody>
      </p:sp>
      <p:sp>
        <p:nvSpPr>
          <p:cNvPr id="12" name="TextBox 11"/>
          <p:cNvSpPr txBox="1"/>
          <p:nvPr/>
        </p:nvSpPr>
        <p:spPr>
          <a:xfrm>
            <a:off x="459890" y="2179454"/>
            <a:ext cx="6238861" cy="3293209"/>
          </a:xfrm>
          <a:prstGeom prst="rect">
            <a:avLst/>
          </a:prstGeom>
          <a:noFill/>
        </p:spPr>
        <p:txBody>
          <a:bodyPr wrap="square" rtlCol="0">
            <a:spAutoFit/>
          </a:bodyPr>
          <a:lstStyle/>
          <a:p>
            <a:pPr>
              <a:spcAft>
                <a:spcPts val="0"/>
              </a:spcAft>
            </a:pPr>
            <a:r>
              <a:rPr lang="en-US" sz="2800" b="1">
                <a:solidFill>
                  <a:srgbClr val="0B2C45"/>
                </a:solidFill>
                <a:latin typeface="+mj-lt"/>
                <a:cs typeface="Arial" pitchFamily="34" charset="0"/>
              </a:rPr>
              <a:t>Text</a:t>
            </a:r>
            <a:endParaRPr lang="en-US" sz="2000" b="1">
              <a:solidFill>
                <a:srgbClr val="0B2C45"/>
              </a:solidFill>
              <a:latin typeface="+mj-lt"/>
              <a:cs typeface="Arial" pitchFamily="34" charset="0"/>
            </a:endParaRPr>
          </a:p>
          <a:p>
            <a:pPr marL="457200" indent="-225425">
              <a:spcAft>
                <a:spcPts val="600"/>
              </a:spcAft>
            </a:pPr>
            <a:r>
              <a:rPr lang="en-US" sz="2000">
                <a:latin typeface="+mj-lt"/>
              </a:rPr>
              <a:t>All text should be short and to the point –</a:t>
            </a:r>
            <a:br>
              <a:rPr lang="en-US" sz="2000">
                <a:latin typeface="+mj-lt"/>
              </a:rPr>
            </a:br>
            <a:r>
              <a:rPr lang="en-US" sz="2000">
                <a:latin typeface="+mj-lt"/>
              </a:rPr>
              <a:t>minimize words and stress significance to society </a:t>
            </a:r>
          </a:p>
          <a:p>
            <a:pPr lvl="1" indent="-225425">
              <a:spcAft>
                <a:spcPts val="0"/>
              </a:spcAft>
              <a:buFont typeface="Arial" pitchFamily="34" charset="0"/>
              <a:buChar char="•"/>
            </a:pPr>
            <a:r>
              <a:rPr lang="en-US" sz="2000" b="1">
                <a:latin typeface="+mj-lt"/>
              </a:rPr>
              <a:t>Scientific Achievement</a:t>
            </a:r>
            <a:r>
              <a:rPr lang="en-US" sz="2000">
                <a:latin typeface="+mj-lt"/>
              </a:rPr>
              <a:t> – 50 words or less</a:t>
            </a:r>
          </a:p>
          <a:p>
            <a:pPr lvl="1" indent="-225425">
              <a:spcAft>
                <a:spcPts val="0"/>
              </a:spcAft>
              <a:buFont typeface="Arial" pitchFamily="34" charset="0"/>
              <a:buChar char="•"/>
            </a:pPr>
            <a:r>
              <a:rPr lang="en-US" sz="2000" b="1">
                <a:latin typeface="+mj-lt"/>
              </a:rPr>
              <a:t>Significance and Impact</a:t>
            </a:r>
            <a:r>
              <a:rPr lang="en-US" sz="2000">
                <a:latin typeface="+mj-lt"/>
              </a:rPr>
              <a:t> – 50 words or less</a:t>
            </a:r>
          </a:p>
          <a:p>
            <a:pPr marL="692150" lvl="1" indent="-179388">
              <a:spcAft>
                <a:spcPts val="0"/>
              </a:spcAft>
              <a:tabLst>
                <a:tab pos="457200" algn="l"/>
              </a:tabLst>
            </a:pPr>
            <a:r>
              <a:rPr lang="en-US">
                <a:latin typeface="+mj-lt"/>
              </a:rPr>
              <a:t>	</a:t>
            </a:r>
            <a:r>
              <a:rPr lang="en-US" sz="1700">
                <a:latin typeface="+mj-lt"/>
              </a:rPr>
              <a:t>Importance, relevance, or intriguing component of the finding to the field</a:t>
            </a:r>
          </a:p>
          <a:p>
            <a:pPr lvl="1" indent="-225425">
              <a:spcAft>
                <a:spcPts val="0"/>
              </a:spcAft>
              <a:buFont typeface="Arial" pitchFamily="34" charset="0"/>
              <a:buChar char="•"/>
            </a:pPr>
            <a:r>
              <a:rPr lang="en-US" sz="2000" b="1">
                <a:latin typeface="+mj-lt"/>
              </a:rPr>
              <a:t>Research Details </a:t>
            </a:r>
            <a:r>
              <a:rPr lang="en-US" sz="2000">
                <a:latin typeface="+mj-lt"/>
              </a:rPr>
              <a:t>– Address the research approach in 2-4 bullet points</a:t>
            </a:r>
          </a:p>
          <a:p>
            <a:pPr lvl="1" indent="-225425">
              <a:spcAft>
                <a:spcPts val="0"/>
              </a:spcAft>
              <a:buFont typeface="Arial" pitchFamily="34" charset="0"/>
              <a:buChar char="•"/>
            </a:pPr>
            <a:r>
              <a:rPr lang="en-US" sz="2000" b="1">
                <a:latin typeface="+mj-lt"/>
                <a:cs typeface="Arial" pitchFamily="34" charset="0"/>
              </a:rPr>
              <a:t>Citation - </a:t>
            </a:r>
            <a:r>
              <a:rPr lang="en-US" sz="2000">
                <a:latin typeface="+mj-lt"/>
              </a:rPr>
              <a:t>Full citation with DOI is preferable</a:t>
            </a:r>
          </a:p>
        </p:txBody>
      </p:sp>
      <p:pic>
        <p:nvPicPr>
          <p:cNvPr id="2" name="Picture 1">
            <a:extLst>
              <a:ext uri="{FF2B5EF4-FFF2-40B4-BE49-F238E27FC236}">
                <a16:creationId xmlns:a16="http://schemas.microsoft.com/office/drawing/2014/main" id="{5BFCBDE2-A828-E75E-182E-2DEAA14D10CD}"/>
              </a:ext>
            </a:extLst>
          </p:cNvPr>
          <p:cNvPicPr>
            <a:picLocks noChangeAspect="1"/>
          </p:cNvPicPr>
          <p:nvPr/>
        </p:nvPicPr>
        <p:blipFill>
          <a:blip r:embed="rId3"/>
          <a:stretch>
            <a:fillRect/>
          </a:stretch>
        </p:blipFill>
        <p:spPr>
          <a:xfrm>
            <a:off x="7212459" y="1500106"/>
            <a:ext cx="4777748" cy="2687483"/>
          </a:xfrm>
          <a:prstGeom prst="rect">
            <a:avLst/>
          </a:prstGeom>
          <a:ln w="19050">
            <a:solidFill>
              <a:schemeClr val="accent1"/>
            </a:solidFill>
          </a:ln>
        </p:spPr>
      </p:pic>
      <p:sp>
        <p:nvSpPr>
          <p:cNvPr id="3" name="TextBox 2">
            <a:extLst>
              <a:ext uri="{FF2B5EF4-FFF2-40B4-BE49-F238E27FC236}">
                <a16:creationId xmlns:a16="http://schemas.microsoft.com/office/drawing/2014/main" id="{38C39E98-A4D7-A8A1-5CE4-C184D2727667}"/>
              </a:ext>
            </a:extLst>
          </p:cNvPr>
          <p:cNvSpPr txBox="1"/>
          <p:nvPr/>
        </p:nvSpPr>
        <p:spPr>
          <a:xfrm>
            <a:off x="459890" y="5655529"/>
            <a:ext cx="4523995" cy="400110"/>
          </a:xfrm>
          <a:prstGeom prst="rect">
            <a:avLst/>
          </a:prstGeom>
          <a:noFill/>
        </p:spPr>
        <p:txBody>
          <a:bodyPr wrap="none" rtlCol="0">
            <a:spAutoFit/>
          </a:bodyPr>
          <a:lstStyle/>
          <a:p>
            <a:r>
              <a:rPr lang="en-US" sz="2000" b="1"/>
              <a:t>Define all acronyms and initialisms </a:t>
            </a:r>
          </a:p>
        </p:txBody>
      </p:sp>
      <p:sp>
        <p:nvSpPr>
          <p:cNvPr id="16" name="Freeform 15"/>
          <p:cNvSpPr/>
          <p:nvPr/>
        </p:nvSpPr>
        <p:spPr>
          <a:xfrm>
            <a:off x="1273996" y="1243057"/>
            <a:ext cx="6166492" cy="353774"/>
          </a:xfrm>
          <a:custGeom>
            <a:avLst/>
            <a:gdLst>
              <a:gd name="connsiteX0" fmla="*/ 0 w 5647765"/>
              <a:gd name="connsiteY0" fmla="*/ 258184 h 968188"/>
              <a:gd name="connsiteX1" fmla="*/ 3098202 w 5647765"/>
              <a:gd name="connsiteY1" fmla="*/ 118334 h 968188"/>
              <a:gd name="connsiteX2" fmla="*/ 5647765 w 5647765"/>
              <a:gd name="connsiteY2" fmla="*/ 968188 h 968188"/>
              <a:gd name="connsiteX3" fmla="*/ 5647765 w 5647765"/>
              <a:gd name="connsiteY3" fmla="*/ 968188 h 968188"/>
            </a:gdLst>
            <a:ahLst/>
            <a:cxnLst>
              <a:cxn ang="0">
                <a:pos x="connsiteX0" y="connsiteY0"/>
              </a:cxn>
              <a:cxn ang="0">
                <a:pos x="connsiteX1" y="connsiteY1"/>
              </a:cxn>
              <a:cxn ang="0">
                <a:pos x="connsiteX2" y="connsiteY2"/>
              </a:cxn>
              <a:cxn ang="0">
                <a:pos x="connsiteX3" y="connsiteY3"/>
              </a:cxn>
            </a:cxnLst>
            <a:rect l="l" t="t" r="r" b="b"/>
            <a:pathLst>
              <a:path w="5647765" h="968188">
                <a:moveTo>
                  <a:pt x="0" y="258184"/>
                </a:moveTo>
                <a:cubicBezTo>
                  <a:pt x="1078454" y="129092"/>
                  <a:pt x="2156908" y="0"/>
                  <a:pt x="3098202" y="118334"/>
                </a:cubicBezTo>
                <a:cubicBezTo>
                  <a:pt x="4039496" y="236668"/>
                  <a:pt x="5647765" y="968188"/>
                  <a:pt x="5647765" y="968188"/>
                </a:cubicBezTo>
                <a:lnTo>
                  <a:pt x="5647765" y="968188"/>
                </a:lnTo>
              </a:path>
            </a:pathLst>
          </a:cu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Freeform: Shape 5">
            <a:extLst>
              <a:ext uri="{FF2B5EF4-FFF2-40B4-BE49-F238E27FC236}">
                <a16:creationId xmlns:a16="http://schemas.microsoft.com/office/drawing/2014/main" id="{3A356104-9AE0-EBF1-04F7-28EC9AB6DBAC}"/>
              </a:ext>
            </a:extLst>
          </p:cNvPr>
          <p:cNvSpPr/>
          <p:nvPr/>
        </p:nvSpPr>
        <p:spPr>
          <a:xfrm>
            <a:off x="6400799" y="3626778"/>
            <a:ext cx="4006921" cy="1565869"/>
          </a:xfrm>
          <a:custGeom>
            <a:avLst/>
            <a:gdLst>
              <a:gd name="connsiteX0" fmla="*/ 0 w 3893906"/>
              <a:gd name="connsiteY0" fmla="*/ 1047964 h 1350112"/>
              <a:gd name="connsiteX1" fmla="*/ 2424701 w 3893906"/>
              <a:gd name="connsiteY1" fmla="*/ 1284269 h 1350112"/>
              <a:gd name="connsiteX2" fmla="*/ 3893906 w 3893906"/>
              <a:gd name="connsiteY2" fmla="*/ 0 h 1350112"/>
              <a:gd name="connsiteX3" fmla="*/ 3893906 w 3893906"/>
              <a:gd name="connsiteY3" fmla="*/ 0 h 1350112"/>
            </a:gdLst>
            <a:ahLst/>
            <a:cxnLst>
              <a:cxn ang="0">
                <a:pos x="connsiteX0" y="connsiteY0"/>
              </a:cxn>
              <a:cxn ang="0">
                <a:pos x="connsiteX1" y="connsiteY1"/>
              </a:cxn>
              <a:cxn ang="0">
                <a:pos x="connsiteX2" y="connsiteY2"/>
              </a:cxn>
              <a:cxn ang="0">
                <a:pos x="connsiteX3" y="connsiteY3"/>
              </a:cxn>
            </a:cxnLst>
            <a:rect l="l" t="t" r="r" b="b"/>
            <a:pathLst>
              <a:path w="3893906" h="1350112">
                <a:moveTo>
                  <a:pt x="0" y="1047964"/>
                </a:moveTo>
                <a:cubicBezTo>
                  <a:pt x="887858" y="1253447"/>
                  <a:pt x="1775717" y="1458930"/>
                  <a:pt x="2424701" y="1284269"/>
                </a:cubicBezTo>
                <a:cubicBezTo>
                  <a:pt x="3073685" y="1109608"/>
                  <a:pt x="3893906" y="0"/>
                  <a:pt x="3893906" y="0"/>
                </a:cubicBezTo>
                <a:lnTo>
                  <a:pt x="3893906" y="0"/>
                </a:lnTo>
              </a:path>
            </a:pathLst>
          </a:custGeom>
          <a:ln w="571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p:cNvSpPr>
            <a:spLocks noGrp="1"/>
          </p:cNvSpPr>
          <p:nvPr>
            <p:ph type="title"/>
          </p:nvPr>
        </p:nvSpPr>
        <p:spPr/>
        <p:txBody>
          <a:bodyPr vert="horz" lIns="91440" tIns="45720" rIns="91440" bIns="45720" rtlCol="0" anchor="ctr">
            <a:noAutofit/>
          </a:bodyPr>
          <a:lstStyle/>
          <a:p>
            <a:r>
              <a:rPr lang="en-US"/>
              <a:t>How to Build a DOE Office of Science Highlight Slide</a:t>
            </a:r>
          </a:p>
        </p:txBody>
      </p:sp>
      <p:sp>
        <p:nvSpPr>
          <p:cNvPr id="13" name="TextBox 12">
            <a:extLst>
              <a:ext uri="{FF2B5EF4-FFF2-40B4-BE49-F238E27FC236}">
                <a16:creationId xmlns:a16="http://schemas.microsoft.com/office/drawing/2014/main" id="{6A3E92AE-6C9B-4D7F-99B7-F70857DC48D0}"/>
              </a:ext>
            </a:extLst>
          </p:cNvPr>
          <p:cNvSpPr txBox="1"/>
          <p:nvPr/>
        </p:nvSpPr>
        <p:spPr>
          <a:xfrm>
            <a:off x="577585" y="1202685"/>
            <a:ext cx="6154614" cy="3600986"/>
          </a:xfrm>
          <a:prstGeom prst="rect">
            <a:avLst/>
          </a:prstGeom>
          <a:noFill/>
        </p:spPr>
        <p:txBody>
          <a:bodyPr wrap="square">
            <a:spAutoFit/>
          </a:bodyPr>
          <a:lstStyle/>
          <a:p>
            <a:r>
              <a:rPr lang="en-US" sz="2800" b="1">
                <a:solidFill>
                  <a:srgbClr val="0B2C45"/>
                </a:solidFill>
                <a:latin typeface="+mj-lt"/>
                <a:cs typeface="Arial" pitchFamily="34" charset="0"/>
              </a:rPr>
              <a:t>PowerPoint Notes</a:t>
            </a:r>
          </a:p>
          <a:p>
            <a:pPr marL="285750" indent="-285750">
              <a:buFont typeface="Arial" panose="020B0604020202020204" pitchFamily="34" charset="0"/>
              <a:buChar char="•"/>
            </a:pPr>
            <a:r>
              <a:rPr lang="en-US" sz="2000">
                <a:latin typeface="+mj-lt"/>
              </a:rPr>
              <a:t>Give a 1-2 paragraph detailed explanation with acknowledgements.</a:t>
            </a:r>
          </a:p>
          <a:p>
            <a:pPr marL="285750" indent="-285750">
              <a:buFont typeface="Arial" panose="020B0604020202020204" pitchFamily="34" charset="0"/>
              <a:buChar char="•"/>
            </a:pPr>
            <a:r>
              <a:rPr lang="en-US" sz="2000">
                <a:effectLst/>
                <a:latin typeface="+mj-lt"/>
                <a:ea typeface="Verdana" panose="020B0604030504040204" pitchFamily="34" charset="0"/>
              </a:rPr>
              <a:t>Sponsor delineation of work should be made clear here and reflect acknowledgements/credit lines </a:t>
            </a:r>
            <a:r>
              <a:rPr lang="en-US" sz="2000" b="1">
                <a:effectLst/>
                <a:latin typeface="+mj-lt"/>
                <a:ea typeface="Verdana" panose="020B0604030504040204" pitchFamily="34" charset="0"/>
              </a:rPr>
              <a:t>in addition</a:t>
            </a:r>
            <a:r>
              <a:rPr lang="en-US" sz="2000">
                <a:effectLst/>
                <a:latin typeface="+mj-lt"/>
                <a:ea typeface="Verdana" panose="020B0604030504040204" pitchFamily="34" charset="0"/>
              </a:rPr>
              <a:t> to info on Slide 2. </a:t>
            </a:r>
          </a:p>
          <a:p>
            <a:pPr marL="285750" indent="-285750">
              <a:buFont typeface="Arial" panose="020B0604020202020204" pitchFamily="34" charset="0"/>
              <a:buChar char="•"/>
            </a:pPr>
            <a:r>
              <a:rPr lang="en-US" sz="2000">
                <a:latin typeface="+mj-lt"/>
                <a:ea typeface="Verdana" panose="020B0604030504040204" pitchFamily="34" charset="0"/>
              </a:rPr>
              <a:t>(Optional) Include any press releases / feature articles from the institution or Office of Science feature articles. </a:t>
            </a:r>
          </a:p>
          <a:p>
            <a:pPr marL="742950" lvl="1" indent="-285750">
              <a:buFont typeface="Arial" panose="020B0604020202020204" pitchFamily="34" charset="0"/>
              <a:buChar char="•"/>
            </a:pPr>
            <a:r>
              <a:rPr lang="en-US" sz="2000">
                <a:latin typeface="+mj-lt"/>
                <a:ea typeface="Verdana" panose="020B0604030504040204" pitchFamily="34" charset="0"/>
              </a:rPr>
              <a:t>Do not provide multiple links to the same article cross-posted in different places.</a:t>
            </a:r>
            <a:endParaRPr lang="en-US" sz="2000"/>
          </a:p>
        </p:txBody>
      </p:sp>
      <p:pic>
        <p:nvPicPr>
          <p:cNvPr id="7" name="Picture 6">
            <a:extLst>
              <a:ext uri="{FF2B5EF4-FFF2-40B4-BE49-F238E27FC236}">
                <a16:creationId xmlns:a16="http://schemas.microsoft.com/office/drawing/2014/main" id="{1056AD1D-C7DE-4BE7-A14F-2245186C1542}"/>
              </a:ext>
            </a:extLst>
          </p:cNvPr>
          <p:cNvPicPr>
            <a:picLocks noChangeAspect="1"/>
          </p:cNvPicPr>
          <p:nvPr/>
        </p:nvPicPr>
        <p:blipFill>
          <a:blip r:embed="rId3"/>
          <a:stretch>
            <a:fillRect/>
          </a:stretch>
        </p:blipFill>
        <p:spPr>
          <a:xfrm>
            <a:off x="7595499" y="3327602"/>
            <a:ext cx="4133088" cy="1460422"/>
          </a:xfrm>
          <a:prstGeom prst="rect">
            <a:avLst/>
          </a:prstGeom>
        </p:spPr>
      </p:pic>
      <p:pic>
        <p:nvPicPr>
          <p:cNvPr id="11" name="Picture 10">
            <a:extLst>
              <a:ext uri="{FF2B5EF4-FFF2-40B4-BE49-F238E27FC236}">
                <a16:creationId xmlns:a16="http://schemas.microsoft.com/office/drawing/2014/main" id="{7EC5672E-3E57-4140-89A3-57A8391EB370}"/>
              </a:ext>
            </a:extLst>
          </p:cNvPr>
          <p:cNvPicPr>
            <a:picLocks noChangeAspect="1"/>
          </p:cNvPicPr>
          <p:nvPr/>
        </p:nvPicPr>
        <p:blipFill>
          <a:blip r:embed="rId4"/>
          <a:stretch>
            <a:fillRect/>
          </a:stretch>
        </p:blipFill>
        <p:spPr>
          <a:xfrm>
            <a:off x="7595498" y="4789281"/>
            <a:ext cx="4133088" cy="1194632"/>
          </a:xfrm>
          <a:prstGeom prst="rect">
            <a:avLst/>
          </a:prstGeom>
        </p:spPr>
      </p:pic>
      <p:pic>
        <p:nvPicPr>
          <p:cNvPr id="2" name="Picture 1">
            <a:extLst>
              <a:ext uri="{FF2B5EF4-FFF2-40B4-BE49-F238E27FC236}">
                <a16:creationId xmlns:a16="http://schemas.microsoft.com/office/drawing/2014/main" id="{C780AED0-90D5-6969-A23E-5E0B644ED7A0}"/>
              </a:ext>
            </a:extLst>
          </p:cNvPr>
          <p:cNvPicPr>
            <a:picLocks noChangeAspect="1"/>
          </p:cNvPicPr>
          <p:nvPr/>
        </p:nvPicPr>
        <p:blipFill>
          <a:blip r:embed="rId5"/>
          <a:stretch>
            <a:fillRect/>
          </a:stretch>
        </p:blipFill>
        <p:spPr>
          <a:xfrm>
            <a:off x="7595499" y="978946"/>
            <a:ext cx="4130336" cy="2323314"/>
          </a:xfrm>
          <a:prstGeom prst="rect">
            <a:avLst/>
          </a:prstGeom>
          <a:ln w="19050">
            <a:solidFill>
              <a:schemeClr val="accent1"/>
            </a:solidFill>
          </a:ln>
        </p:spPr>
      </p:pic>
      <p:sp>
        <p:nvSpPr>
          <p:cNvPr id="3" name="Freeform 11">
            <a:extLst>
              <a:ext uri="{FF2B5EF4-FFF2-40B4-BE49-F238E27FC236}">
                <a16:creationId xmlns:a16="http://schemas.microsoft.com/office/drawing/2014/main" id="{3D09F07C-BE4A-C770-0969-75C605CEF7D0}"/>
              </a:ext>
            </a:extLst>
          </p:cNvPr>
          <p:cNvSpPr/>
          <p:nvPr/>
        </p:nvSpPr>
        <p:spPr>
          <a:xfrm>
            <a:off x="6310376" y="4194388"/>
            <a:ext cx="1219748" cy="301506"/>
          </a:xfrm>
          <a:custGeom>
            <a:avLst/>
            <a:gdLst>
              <a:gd name="connsiteX0" fmla="*/ 0 w 5271247"/>
              <a:gd name="connsiteY0" fmla="*/ 0 h 2700170"/>
              <a:gd name="connsiteX1" fmla="*/ 2420470 w 5271247"/>
              <a:gd name="connsiteY1" fmla="*/ 1559859 h 2700170"/>
              <a:gd name="connsiteX2" fmla="*/ 5271247 w 5271247"/>
              <a:gd name="connsiteY2" fmla="*/ 2700170 h 2700170"/>
            </a:gdLst>
            <a:ahLst/>
            <a:cxnLst>
              <a:cxn ang="0">
                <a:pos x="connsiteX0" y="connsiteY0"/>
              </a:cxn>
              <a:cxn ang="0">
                <a:pos x="connsiteX1" y="connsiteY1"/>
              </a:cxn>
              <a:cxn ang="0">
                <a:pos x="connsiteX2" y="connsiteY2"/>
              </a:cxn>
            </a:cxnLst>
            <a:rect l="l" t="t" r="r" b="b"/>
            <a:pathLst>
              <a:path w="5271247" h="2700170">
                <a:moveTo>
                  <a:pt x="0" y="0"/>
                </a:moveTo>
                <a:cubicBezTo>
                  <a:pt x="770964" y="554915"/>
                  <a:pt x="1541929" y="1109831"/>
                  <a:pt x="2420470" y="1559859"/>
                </a:cubicBezTo>
                <a:cubicBezTo>
                  <a:pt x="3299011" y="2009887"/>
                  <a:pt x="4285129" y="2355028"/>
                  <a:pt x="5271247" y="2700170"/>
                </a:cubicBezTo>
              </a:path>
            </a:pathLst>
          </a:custGeom>
          <a:ln w="50800">
            <a:solidFill>
              <a:schemeClr val="accent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99693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11"/>
          <p:cNvSpPr/>
          <p:nvPr/>
        </p:nvSpPr>
        <p:spPr>
          <a:xfrm>
            <a:off x="5631366" y="1990665"/>
            <a:ext cx="1219748" cy="301506"/>
          </a:xfrm>
          <a:custGeom>
            <a:avLst/>
            <a:gdLst>
              <a:gd name="connsiteX0" fmla="*/ 0 w 5271247"/>
              <a:gd name="connsiteY0" fmla="*/ 0 h 2700170"/>
              <a:gd name="connsiteX1" fmla="*/ 2420470 w 5271247"/>
              <a:gd name="connsiteY1" fmla="*/ 1559859 h 2700170"/>
              <a:gd name="connsiteX2" fmla="*/ 5271247 w 5271247"/>
              <a:gd name="connsiteY2" fmla="*/ 2700170 h 2700170"/>
            </a:gdLst>
            <a:ahLst/>
            <a:cxnLst>
              <a:cxn ang="0">
                <a:pos x="connsiteX0" y="connsiteY0"/>
              </a:cxn>
              <a:cxn ang="0">
                <a:pos x="connsiteX1" y="connsiteY1"/>
              </a:cxn>
              <a:cxn ang="0">
                <a:pos x="connsiteX2" y="connsiteY2"/>
              </a:cxn>
            </a:cxnLst>
            <a:rect l="l" t="t" r="r" b="b"/>
            <a:pathLst>
              <a:path w="5271247" h="2700170">
                <a:moveTo>
                  <a:pt x="0" y="0"/>
                </a:moveTo>
                <a:cubicBezTo>
                  <a:pt x="770964" y="554915"/>
                  <a:pt x="1541929" y="1109831"/>
                  <a:pt x="2420470" y="1559859"/>
                </a:cubicBezTo>
                <a:cubicBezTo>
                  <a:pt x="3299011" y="2009887"/>
                  <a:pt x="4285129" y="2355028"/>
                  <a:pt x="5271247" y="2700170"/>
                </a:cubicBezTo>
              </a:path>
            </a:pathLst>
          </a:custGeom>
          <a:ln w="50800">
            <a:solidFill>
              <a:schemeClr val="accent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EB0F96F6-2558-6A56-E61E-26AB7746A21F}"/>
              </a:ext>
            </a:extLst>
          </p:cNvPr>
          <p:cNvSpPr txBox="1"/>
          <p:nvPr/>
        </p:nvSpPr>
        <p:spPr>
          <a:xfrm>
            <a:off x="577017" y="1114915"/>
            <a:ext cx="5847234" cy="2369880"/>
          </a:xfrm>
          <a:prstGeom prst="rect">
            <a:avLst/>
          </a:prstGeom>
          <a:noFill/>
        </p:spPr>
        <p:txBody>
          <a:bodyPr wrap="square" rtlCol="0">
            <a:spAutoFit/>
          </a:bodyPr>
          <a:lstStyle/>
          <a:p>
            <a:r>
              <a:rPr lang="en-US" sz="2800" b="1">
                <a:solidFill>
                  <a:srgbClr val="0B2C45"/>
                </a:solidFill>
                <a:latin typeface="+mj-lt"/>
                <a:cs typeface="Arial" pitchFamily="34" charset="0"/>
              </a:rPr>
              <a:t>Figures</a:t>
            </a:r>
            <a:endParaRPr lang="en-US" sz="2000" b="1">
              <a:solidFill>
                <a:srgbClr val="0B2C45"/>
              </a:solidFill>
              <a:latin typeface="+mj-lt"/>
              <a:cs typeface="Arial" pitchFamily="34" charset="0"/>
            </a:endParaRPr>
          </a:p>
          <a:p>
            <a:pPr marL="454025" indent="-342900">
              <a:buFont typeface="Arial" panose="020B0604020202020204" pitchFamily="34" charset="0"/>
              <a:buChar char="•"/>
            </a:pPr>
            <a:r>
              <a:rPr lang="en-US" sz="2000">
                <a:latin typeface="+mj-lt"/>
              </a:rPr>
              <a:t>Visually compelling figure(s) to explain the research</a:t>
            </a:r>
          </a:p>
          <a:p>
            <a:pPr marL="454025" indent="-342900">
              <a:buFont typeface="Arial" panose="020B0604020202020204" pitchFamily="34" charset="0"/>
              <a:buChar char="•"/>
            </a:pPr>
            <a:r>
              <a:rPr lang="en-US" sz="2000">
                <a:latin typeface="+mj-lt"/>
              </a:rPr>
              <a:t>Include legends and descriptive caption</a:t>
            </a:r>
          </a:p>
          <a:p>
            <a:pPr marL="111125"/>
            <a:r>
              <a:rPr lang="en-US" sz="2000">
                <a:latin typeface="+mj-lt"/>
              </a:rPr>
              <a:t>	</a:t>
            </a:r>
          </a:p>
          <a:p>
            <a:pPr marL="111125"/>
            <a:r>
              <a:rPr lang="en-US" sz="2000">
                <a:latin typeface="+mj-lt"/>
              </a:rPr>
              <a:t>DOE has the right to use published journal images per contractual funding agreements</a:t>
            </a:r>
          </a:p>
        </p:txBody>
      </p:sp>
      <p:sp>
        <p:nvSpPr>
          <p:cNvPr id="5" name="TextBox 4">
            <a:extLst>
              <a:ext uri="{FF2B5EF4-FFF2-40B4-BE49-F238E27FC236}">
                <a16:creationId xmlns:a16="http://schemas.microsoft.com/office/drawing/2014/main" id="{3416150E-021A-B130-89F4-BBF6F3BFB66C}"/>
              </a:ext>
            </a:extLst>
          </p:cNvPr>
          <p:cNvSpPr txBox="1"/>
          <p:nvPr/>
        </p:nvSpPr>
        <p:spPr>
          <a:xfrm>
            <a:off x="577016" y="4127479"/>
            <a:ext cx="7749891" cy="1446550"/>
          </a:xfrm>
          <a:prstGeom prst="rect">
            <a:avLst/>
          </a:prstGeom>
          <a:noFill/>
        </p:spPr>
        <p:txBody>
          <a:bodyPr wrap="square" rtlCol="0">
            <a:spAutoFit/>
          </a:bodyPr>
          <a:lstStyle/>
          <a:p>
            <a:r>
              <a:rPr lang="en-US" sz="2800" b="1">
                <a:solidFill>
                  <a:srgbClr val="0B2C45"/>
                </a:solidFill>
                <a:latin typeface="+mj-lt"/>
                <a:cs typeface="Arial" pitchFamily="34" charset="0"/>
              </a:rPr>
              <a:t>Institutional logo(s)</a:t>
            </a:r>
            <a:endParaRPr lang="en-US" sz="2000" b="1">
              <a:solidFill>
                <a:srgbClr val="0B2C45"/>
              </a:solidFill>
              <a:latin typeface="+mj-lt"/>
              <a:cs typeface="Arial" pitchFamily="34" charset="0"/>
            </a:endParaRPr>
          </a:p>
          <a:p>
            <a:pPr marL="454025" indent="-342900">
              <a:buFont typeface="Arial" panose="020B0604020202020204" pitchFamily="34" charset="0"/>
              <a:buChar char="•"/>
            </a:pPr>
            <a:r>
              <a:rPr lang="en-US" sz="2000">
                <a:latin typeface="+mj-lt"/>
              </a:rPr>
              <a:t>Include affiliations or institutional logos</a:t>
            </a:r>
          </a:p>
          <a:p>
            <a:pPr marL="454025" indent="-342900">
              <a:buFont typeface="Arial" panose="020B0604020202020204" pitchFamily="34" charset="0"/>
              <a:buChar char="•"/>
            </a:pPr>
            <a:r>
              <a:rPr lang="en-US" sz="2000">
                <a:latin typeface="+mj-lt"/>
              </a:rPr>
              <a:t>Indicate institution where research was performed (if possible)</a:t>
            </a:r>
          </a:p>
          <a:p>
            <a:pPr marL="454025" indent="-342900">
              <a:buFont typeface="Arial" panose="020B0604020202020204" pitchFamily="34" charset="0"/>
              <a:buChar char="•"/>
            </a:pPr>
            <a:r>
              <a:rPr lang="en-US" sz="2000">
                <a:latin typeface="+mj-lt"/>
              </a:rPr>
              <a:t>EERC logos can be included as well</a:t>
            </a:r>
          </a:p>
        </p:txBody>
      </p:sp>
      <p:sp>
        <p:nvSpPr>
          <p:cNvPr id="6" name="Title 3">
            <a:extLst>
              <a:ext uri="{FF2B5EF4-FFF2-40B4-BE49-F238E27FC236}">
                <a16:creationId xmlns:a16="http://schemas.microsoft.com/office/drawing/2014/main" id="{2D80707B-4676-6988-E4E5-32FA37194225}"/>
              </a:ext>
            </a:extLst>
          </p:cNvPr>
          <p:cNvSpPr txBox="1">
            <a:spLocks/>
          </p:cNvSpPr>
          <p:nvPr/>
        </p:nvSpPr>
        <p:spPr>
          <a:xfrm>
            <a:off x="408791" y="177283"/>
            <a:ext cx="11317044" cy="8016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Segoe UI Black" panose="020B0A02040204020203" pitchFamily="34" charset="0"/>
                <a:cs typeface="+mj-cs"/>
              </a:defRPr>
            </a:lvl1pPr>
          </a:lstStyle>
          <a:p>
            <a:pPr fontAlgn="auto">
              <a:spcAft>
                <a:spcPts val="0"/>
              </a:spcAft>
            </a:pPr>
            <a:r>
              <a:rPr lang="en-US"/>
              <a:t>How to Build a DOE Office of Science Highlight Slide</a:t>
            </a:r>
          </a:p>
        </p:txBody>
      </p:sp>
      <p:sp>
        <p:nvSpPr>
          <p:cNvPr id="8" name="Freeform: Shape 7">
            <a:extLst>
              <a:ext uri="{FF2B5EF4-FFF2-40B4-BE49-F238E27FC236}">
                <a16:creationId xmlns:a16="http://schemas.microsoft.com/office/drawing/2014/main" id="{C6A04614-668D-7940-9667-7006AF9B1963}"/>
              </a:ext>
            </a:extLst>
          </p:cNvPr>
          <p:cNvSpPr/>
          <p:nvPr/>
        </p:nvSpPr>
        <p:spPr>
          <a:xfrm>
            <a:off x="7761249" y="4315523"/>
            <a:ext cx="3245006" cy="825190"/>
          </a:xfrm>
          <a:custGeom>
            <a:avLst/>
            <a:gdLst>
              <a:gd name="connsiteX0" fmla="*/ 0 w 4578536"/>
              <a:gd name="connsiteY0" fmla="*/ 1003610 h 1003610"/>
              <a:gd name="connsiteX1" fmla="*/ 3936380 w 4578536"/>
              <a:gd name="connsiteY1" fmla="*/ 780586 h 1003610"/>
              <a:gd name="connsiteX2" fmla="*/ 4527395 w 4578536"/>
              <a:gd name="connsiteY2" fmla="*/ 0 h 1003610"/>
            </a:gdLst>
            <a:ahLst/>
            <a:cxnLst>
              <a:cxn ang="0">
                <a:pos x="connsiteX0" y="connsiteY0"/>
              </a:cxn>
              <a:cxn ang="0">
                <a:pos x="connsiteX1" y="connsiteY1"/>
              </a:cxn>
              <a:cxn ang="0">
                <a:pos x="connsiteX2" y="connsiteY2"/>
              </a:cxn>
            </a:cxnLst>
            <a:rect l="l" t="t" r="r" b="b"/>
            <a:pathLst>
              <a:path w="4578536" h="1003610">
                <a:moveTo>
                  <a:pt x="0" y="1003610"/>
                </a:moveTo>
                <a:cubicBezTo>
                  <a:pt x="1590907" y="975732"/>
                  <a:pt x="3181814" y="947854"/>
                  <a:pt x="3936380" y="780586"/>
                </a:cubicBezTo>
                <a:cubicBezTo>
                  <a:pt x="4690946" y="613318"/>
                  <a:pt x="4609170" y="306659"/>
                  <a:pt x="4527395" y="0"/>
                </a:cubicBezTo>
              </a:path>
            </a:pathLst>
          </a:custGeom>
          <a:noFill/>
          <a:ln w="50800">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F76E0A3-2386-F5F1-874B-A6C9495F0CC0}"/>
              </a:ext>
            </a:extLst>
          </p:cNvPr>
          <p:cNvPicPr>
            <a:picLocks noChangeAspect="1"/>
          </p:cNvPicPr>
          <p:nvPr/>
        </p:nvPicPr>
        <p:blipFill>
          <a:blip r:embed="rId2"/>
          <a:stretch>
            <a:fillRect/>
          </a:stretch>
        </p:blipFill>
        <p:spPr>
          <a:xfrm>
            <a:off x="7212459" y="1500106"/>
            <a:ext cx="4777748" cy="2687483"/>
          </a:xfrm>
          <a:prstGeom prst="rect">
            <a:avLst/>
          </a:prstGeom>
          <a:ln w="19050">
            <a:solidFill>
              <a:schemeClr val="accent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E5C9-378A-F7EC-32E4-CF571B46ACDB}"/>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FBDF56BC-165F-B65A-3B90-AAC79ABAD683}"/>
              </a:ext>
            </a:extLst>
          </p:cNvPr>
          <p:cNvSpPr txBox="1">
            <a:spLocks/>
          </p:cNvSpPr>
          <p:nvPr/>
        </p:nvSpPr>
        <p:spPr>
          <a:xfrm>
            <a:off x="408791" y="177283"/>
            <a:ext cx="11317044" cy="8016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Segoe UI Black" panose="020B0A02040204020203" pitchFamily="34" charset="0"/>
                <a:cs typeface="+mj-cs"/>
              </a:defRPr>
            </a:lvl1pPr>
          </a:lstStyle>
          <a:p>
            <a:pPr fontAlgn="auto">
              <a:spcAft>
                <a:spcPts val="0"/>
              </a:spcAft>
            </a:pPr>
            <a:r>
              <a:rPr lang="en-US"/>
              <a:t>How to Build a DOE Office of Science Highlight Slide</a:t>
            </a:r>
          </a:p>
        </p:txBody>
      </p:sp>
      <p:pic>
        <p:nvPicPr>
          <p:cNvPr id="4" name="Picture 3">
            <a:extLst>
              <a:ext uri="{FF2B5EF4-FFF2-40B4-BE49-F238E27FC236}">
                <a16:creationId xmlns:a16="http://schemas.microsoft.com/office/drawing/2014/main" id="{5BBAE52D-BC19-9228-F417-F7CF654CCE63}"/>
              </a:ext>
            </a:extLst>
          </p:cNvPr>
          <p:cNvPicPr>
            <a:picLocks noChangeAspect="1"/>
          </p:cNvPicPr>
          <p:nvPr/>
        </p:nvPicPr>
        <p:blipFill>
          <a:blip r:embed="rId2"/>
          <a:stretch>
            <a:fillRect/>
          </a:stretch>
        </p:blipFill>
        <p:spPr>
          <a:xfrm>
            <a:off x="7212022" y="978947"/>
            <a:ext cx="4855324" cy="2731120"/>
          </a:xfrm>
          <a:prstGeom prst="rect">
            <a:avLst/>
          </a:prstGeom>
        </p:spPr>
      </p:pic>
      <p:sp>
        <p:nvSpPr>
          <p:cNvPr id="7" name="Freeform 11">
            <a:extLst>
              <a:ext uri="{FF2B5EF4-FFF2-40B4-BE49-F238E27FC236}">
                <a16:creationId xmlns:a16="http://schemas.microsoft.com/office/drawing/2014/main" id="{76F45E37-2698-BE48-E247-152D5D7758D6}"/>
              </a:ext>
            </a:extLst>
          </p:cNvPr>
          <p:cNvSpPr/>
          <p:nvPr/>
        </p:nvSpPr>
        <p:spPr>
          <a:xfrm flipV="1">
            <a:off x="5631366" y="1558977"/>
            <a:ext cx="1518942" cy="431688"/>
          </a:xfrm>
          <a:custGeom>
            <a:avLst/>
            <a:gdLst>
              <a:gd name="connsiteX0" fmla="*/ 0 w 5271247"/>
              <a:gd name="connsiteY0" fmla="*/ 0 h 2700170"/>
              <a:gd name="connsiteX1" fmla="*/ 2420470 w 5271247"/>
              <a:gd name="connsiteY1" fmla="*/ 1559859 h 2700170"/>
              <a:gd name="connsiteX2" fmla="*/ 5271247 w 5271247"/>
              <a:gd name="connsiteY2" fmla="*/ 2700170 h 2700170"/>
            </a:gdLst>
            <a:ahLst/>
            <a:cxnLst>
              <a:cxn ang="0">
                <a:pos x="connsiteX0" y="connsiteY0"/>
              </a:cxn>
              <a:cxn ang="0">
                <a:pos x="connsiteX1" y="connsiteY1"/>
              </a:cxn>
              <a:cxn ang="0">
                <a:pos x="connsiteX2" y="connsiteY2"/>
              </a:cxn>
            </a:cxnLst>
            <a:rect l="l" t="t" r="r" b="b"/>
            <a:pathLst>
              <a:path w="5271247" h="2700170">
                <a:moveTo>
                  <a:pt x="0" y="0"/>
                </a:moveTo>
                <a:cubicBezTo>
                  <a:pt x="770964" y="554915"/>
                  <a:pt x="1541929" y="1109831"/>
                  <a:pt x="2420470" y="1559859"/>
                </a:cubicBezTo>
                <a:cubicBezTo>
                  <a:pt x="3299011" y="2009887"/>
                  <a:pt x="4285129" y="2355028"/>
                  <a:pt x="5271247" y="2700170"/>
                </a:cubicBezTo>
              </a:path>
            </a:pathLst>
          </a:custGeom>
          <a:ln w="50800">
            <a:solidFill>
              <a:schemeClr val="accent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BC5F53FC-4E20-DD7F-5930-85D5A197E285}"/>
              </a:ext>
            </a:extLst>
          </p:cNvPr>
          <p:cNvSpPr txBox="1"/>
          <p:nvPr/>
        </p:nvSpPr>
        <p:spPr>
          <a:xfrm>
            <a:off x="577017" y="1114915"/>
            <a:ext cx="5111750" cy="5139869"/>
          </a:xfrm>
          <a:prstGeom prst="rect">
            <a:avLst/>
          </a:prstGeom>
          <a:noFill/>
        </p:spPr>
        <p:txBody>
          <a:bodyPr wrap="square" rtlCol="0">
            <a:spAutoFit/>
          </a:bodyPr>
          <a:lstStyle/>
          <a:p>
            <a:r>
              <a:rPr lang="en-US" sz="2800" b="1">
                <a:solidFill>
                  <a:srgbClr val="0B2C45"/>
                </a:solidFill>
                <a:latin typeface="+mj-lt"/>
                <a:cs typeface="Arial" pitchFamily="34" charset="0"/>
              </a:rPr>
              <a:t>Intellectual/Funding Role</a:t>
            </a:r>
            <a:endParaRPr lang="en-US" sz="2000" b="1">
              <a:solidFill>
                <a:srgbClr val="0B2C45"/>
              </a:solidFill>
              <a:latin typeface="+mj-lt"/>
              <a:cs typeface="Arial" pitchFamily="34" charset="0"/>
            </a:endParaRPr>
          </a:p>
          <a:p>
            <a:pPr marL="454025" indent="-342900">
              <a:buFont typeface="Arial" panose="020B0604020202020204" pitchFamily="34" charset="0"/>
              <a:buChar char="•"/>
            </a:pPr>
            <a:r>
              <a:rPr lang="en-US" sz="2000">
                <a:latin typeface="+mj-lt"/>
              </a:rPr>
              <a:t>Intellectual role: Select "lead" for publications in which the NQISRC was the lead institution contributing to the published result; select "collaborator" if the NQISRC was one of a group of collaborators with roughly equal contributions; select "minor" if the NQISRC contributed to work led by a person or project outside the NQISRC.	</a:t>
            </a:r>
          </a:p>
          <a:p>
            <a:pPr marL="454025" indent="-342900">
              <a:buFont typeface="Arial" panose="020B0604020202020204" pitchFamily="34" charset="0"/>
              <a:buChar char="•"/>
            </a:pPr>
            <a:r>
              <a:rPr lang="en-US" sz="2000">
                <a:latin typeface="+mj-lt"/>
              </a:rPr>
              <a:t>Funding: Select "sole" if NQISRC was the sole source of funding for this work. Select "majority" if other sources contributed, but NQISRCs made up most of the funding. Select "minority" if NQISRC funding was a minority of the overall funding.</a:t>
            </a:r>
          </a:p>
        </p:txBody>
      </p:sp>
      <p:sp>
        <p:nvSpPr>
          <p:cNvPr id="16" name="TextBox 15">
            <a:extLst>
              <a:ext uri="{FF2B5EF4-FFF2-40B4-BE49-F238E27FC236}">
                <a16:creationId xmlns:a16="http://schemas.microsoft.com/office/drawing/2014/main" id="{E9A359F0-11B3-202C-3305-96EB1C8FFE2D}"/>
              </a:ext>
            </a:extLst>
          </p:cNvPr>
          <p:cNvSpPr txBox="1"/>
          <p:nvPr/>
        </p:nvSpPr>
        <p:spPr>
          <a:xfrm>
            <a:off x="6200306" y="3840511"/>
            <a:ext cx="5926737" cy="2554545"/>
          </a:xfrm>
          <a:prstGeom prst="rect">
            <a:avLst/>
          </a:prstGeom>
          <a:noFill/>
        </p:spPr>
        <p:txBody>
          <a:bodyPr wrap="square">
            <a:spAutoFit/>
          </a:bodyPr>
          <a:lstStyle/>
          <a:p>
            <a:r>
              <a:rPr lang="en-US" sz="2000" b="1">
                <a:latin typeface="+mj-lt"/>
              </a:rPr>
              <a:t>Explanation of Funding Institution Contributions</a:t>
            </a:r>
          </a:p>
          <a:p>
            <a:pPr marL="285750" indent="-285750">
              <a:buFont typeface="Arial" panose="020B0604020202020204" pitchFamily="34" charset="0"/>
              <a:buChar char="•"/>
            </a:pPr>
            <a:r>
              <a:rPr lang="en-US" sz="2000">
                <a:latin typeface="+mj-lt"/>
              </a:rPr>
              <a:t>Delineates the contribution made by each funding source</a:t>
            </a:r>
          </a:p>
          <a:p>
            <a:pPr marL="285750" indent="-285750">
              <a:buFont typeface="Arial" panose="020B0604020202020204" pitchFamily="34" charset="0"/>
              <a:buChar char="•"/>
            </a:pPr>
            <a:r>
              <a:rPr lang="en-US" sz="2000">
                <a:latin typeface="+mj-lt"/>
              </a:rPr>
              <a:t>Makes clear why it is appropriate for multiple funded projects to contribute</a:t>
            </a:r>
          </a:p>
          <a:p>
            <a:pPr marL="285750" indent="-285750">
              <a:buFont typeface="Arial" panose="020B0604020202020204" pitchFamily="34" charset="0"/>
              <a:buChar char="•"/>
            </a:pPr>
            <a:r>
              <a:rPr lang="en-US" sz="2000">
                <a:latin typeface="+mj-lt"/>
              </a:rPr>
              <a:t>Ex: Student/postdoc funding from other sources, use of facilities/foundries, complementary scope of projects</a:t>
            </a:r>
          </a:p>
        </p:txBody>
      </p:sp>
      <p:sp>
        <p:nvSpPr>
          <p:cNvPr id="17" name="Freeform 11">
            <a:extLst>
              <a:ext uri="{FF2B5EF4-FFF2-40B4-BE49-F238E27FC236}">
                <a16:creationId xmlns:a16="http://schemas.microsoft.com/office/drawing/2014/main" id="{CACFBDD5-D21B-E2E6-7E3D-1390A7949285}"/>
              </a:ext>
            </a:extLst>
          </p:cNvPr>
          <p:cNvSpPr/>
          <p:nvPr/>
        </p:nvSpPr>
        <p:spPr>
          <a:xfrm flipH="1" flipV="1">
            <a:off x="8244590" y="2330969"/>
            <a:ext cx="637082" cy="1509541"/>
          </a:xfrm>
          <a:custGeom>
            <a:avLst/>
            <a:gdLst>
              <a:gd name="connsiteX0" fmla="*/ 0 w 5271247"/>
              <a:gd name="connsiteY0" fmla="*/ 0 h 2700170"/>
              <a:gd name="connsiteX1" fmla="*/ 2420470 w 5271247"/>
              <a:gd name="connsiteY1" fmla="*/ 1559859 h 2700170"/>
              <a:gd name="connsiteX2" fmla="*/ 5271247 w 5271247"/>
              <a:gd name="connsiteY2" fmla="*/ 2700170 h 2700170"/>
            </a:gdLst>
            <a:ahLst/>
            <a:cxnLst>
              <a:cxn ang="0">
                <a:pos x="connsiteX0" y="connsiteY0"/>
              </a:cxn>
              <a:cxn ang="0">
                <a:pos x="connsiteX1" y="connsiteY1"/>
              </a:cxn>
              <a:cxn ang="0">
                <a:pos x="connsiteX2" y="connsiteY2"/>
              </a:cxn>
            </a:cxnLst>
            <a:rect l="l" t="t" r="r" b="b"/>
            <a:pathLst>
              <a:path w="5271247" h="2700170">
                <a:moveTo>
                  <a:pt x="0" y="0"/>
                </a:moveTo>
                <a:cubicBezTo>
                  <a:pt x="770964" y="554915"/>
                  <a:pt x="1541929" y="1109831"/>
                  <a:pt x="2420470" y="1559859"/>
                </a:cubicBezTo>
                <a:cubicBezTo>
                  <a:pt x="3299011" y="2009887"/>
                  <a:pt x="4285129" y="2355028"/>
                  <a:pt x="5271247" y="2700170"/>
                </a:cubicBezTo>
              </a:path>
            </a:pathLst>
          </a:custGeom>
          <a:ln w="50800">
            <a:solidFill>
              <a:schemeClr val="accent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03408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FCE1893-9267-6288-98F6-155BABD77690}"/>
              </a:ext>
            </a:extLst>
          </p:cNvPr>
          <p:cNvSpPr>
            <a:spLocks noGrp="1"/>
          </p:cNvSpPr>
          <p:nvPr>
            <p:ph type="title"/>
          </p:nvPr>
        </p:nvSpPr>
        <p:spPr/>
        <p:txBody>
          <a:bodyPr/>
          <a:lstStyle/>
          <a:p>
            <a:r>
              <a:rPr lang="en-US"/>
              <a:t>Surprising new </a:t>
            </a:r>
            <a:r>
              <a:rPr lang="en-US" err="1"/>
              <a:t>transplutonium</a:t>
            </a:r>
            <a:r>
              <a:rPr lang="en-US"/>
              <a:t> chemistry revealed</a:t>
            </a:r>
          </a:p>
        </p:txBody>
      </p:sp>
      <p:sp>
        <p:nvSpPr>
          <p:cNvPr id="10" name="Content Placeholder 9">
            <a:extLst>
              <a:ext uri="{FF2B5EF4-FFF2-40B4-BE49-F238E27FC236}">
                <a16:creationId xmlns:a16="http://schemas.microsoft.com/office/drawing/2014/main" id="{14EB4088-B169-1031-8FD6-8EFA353D45B7}"/>
              </a:ext>
            </a:extLst>
          </p:cNvPr>
          <p:cNvSpPr>
            <a:spLocks noGrp="1"/>
          </p:cNvSpPr>
          <p:nvPr>
            <p:ph sz="quarter" idx="13"/>
          </p:nvPr>
        </p:nvSpPr>
        <p:spPr>
          <a:xfrm>
            <a:off x="5484244" y="989793"/>
            <a:ext cx="6536773" cy="1385422"/>
          </a:xfrm>
          <a:noFill/>
        </p:spPr>
        <p:txBody>
          <a:bodyPr>
            <a:noAutofit/>
          </a:bodyPr>
          <a:lstStyle/>
          <a:p>
            <a:pPr marL="0" indent="0">
              <a:spcBef>
                <a:spcPts val="0"/>
              </a:spcBef>
              <a:buNone/>
            </a:pPr>
            <a:r>
              <a:rPr lang="en-US" b="1">
                <a:solidFill>
                  <a:schemeClr val="tx1"/>
                </a:solidFill>
              </a:rPr>
              <a:t>Scientific Achievement</a:t>
            </a:r>
          </a:p>
          <a:p>
            <a:pPr marL="234950" indent="0">
              <a:spcBef>
                <a:spcPts val="0"/>
              </a:spcBef>
              <a:buNone/>
            </a:pPr>
            <a:r>
              <a:rPr lang="en-US">
                <a:solidFill>
                  <a:schemeClr val="tx1"/>
                </a:solidFill>
                <a:latin typeface="+mj-lt"/>
              </a:rPr>
              <a:t>A compound of einsteinium (Es) has been characterized for the first time in 40+ years. </a:t>
            </a:r>
          </a:p>
        </p:txBody>
      </p:sp>
      <p:sp>
        <p:nvSpPr>
          <p:cNvPr id="12" name="Content Placeholder 9">
            <a:extLst>
              <a:ext uri="{FF2B5EF4-FFF2-40B4-BE49-F238E27FC236}">
                <a16:creationId xmlns:a16="http://schemas.microsoft.com/office/drawing/2014/main" id="{311627D7-0024-BDD1-9FAB-1D8F70E72D4F}"/>
              </a:ext>
            </a:extLst>
          </p:cNvPr>
          <p:cNvSpPr txBox="1">
            <a:spLocks/>
          </p:cNvSpPr>
          <p:nvPr/>
        </p:nvSpPr>
        <p:spPr>
          <a:xfrm>
            <a:off x="5484242" y="2203413"/>
            <a:ext cx="6536773" cy="1385422"/>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Tx/>
              <a:buFont typeface="Arial" panose="020B0604020202020204" pitchFamily="34" charset="0"/>
              <a:buChar char="•"/>
              <a:defRPr sz="2400" kern="1200">
                <a:solidFill>
                  <a:schemeClr val="bg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ClrTx/>
              <a:buFontTx/>
              <a:buChar char="◦"/>
              <a:defRPr sz="2000" kern="1200">
                <a:solidFill>
                  <a:schemeClr val="bg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ClrTx/>
              <a:buFont typeface="Wingdings" panose="05000000000000000000" pitchFamily="2" charset="2"/>
              <a:buChar char="§"/>
              <a:defRPr sz="1800" kern="1200">
                <a:solidFill>
                  <a:schemeClr val="bg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pPr>
            <a:r>
              <a:rPr lang="en-US" b="1">
                <a:solidFill>
                  <a:schemeClr val="tx1"/>
                </a:solidFill>
              </a:rPr>
              <a:t>Significance and Impact</a:t>
            </a:r>
          </a:p>
          <a:p>
            <a:pPr marL="234950" indent="0" fontAlgn="auto">
              <a:spcBef>
                <a:spcPts val="0"/>
              </a:spcBef>
              <a:spcAft>
                <a:spcPts val="0"/>
              </a:spcAft>
              <a:buFont typeface="Arial" panose="020B0604020202020204" pitchFamily="34" charset="0"/>
              <a:buNone/>
            </a:pPr>
            <a:r>
              <a:rPr lang="en-US">
                <a:solidFill>
                  <a:schemeClr val="tx1"/>
                </a:solidFill>
                <a:latin typeface="+mj-lt"/>
              </a:rPr>
              <a:t>Einsteinium’s chemistry appears different from its actinide neighbors. This unexpected behavior will require modifying how we model the DOE-mission critical elements in the actinide series. </a:t>
            </a:r>
          </a:p>
        </p:txBody>
      </p:sp>
      <p:sp>
        <p:nvSpPr>
          <p:cNvPr id="13" name="Content Placeholder 9">
            <a:extLst>
              <a:ext uri="{FF2B5EF4-FFF2-40B4-BE49-F238E27FC236}">
                <a16:creationId xmlns:a16="http://schemas.microsoft.com/office/drawing/2014/main" id="{05E42D4C-C293-A270-3482-D0D3188677B8}"/>
              </a:ext>
            </a:extLst>
          </p:cNvPr>
          <p:cNvSpPr txBox="1">
            <a:spLocks/>
          </p:cNvSpPr>
          <p:nvPr/>
        </p:nvSpPr>
        <p:spPr>
          <a:xfrm>
            <a:off x="5484242" y="3845920"/>
            <a:ext cx="6536773" cy="1385422"/>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ClrTx/>
              <a:buFont typeface="Arial" panose="020B0604020202020204" pitchFamily="34" charset="0"/>
              <a:buChar char="•"/>
              <a:defRPr sz="2400" kern="1200">
                <a:solidFill>
                  <a:schemeClr val="bg1"/>
                </a:solidFill>
                <a:latin typeface="Avenir Next LT Pro" panose="020B0504020202020204" pitchFamily="34" charset="0"/>
                <a:ea typeface="+mn-ea"/>
                <a:cs typeface="+mn-cs"/>
              </a:defRPr>
            </a:lvl1pPr>
            <a:lvl2pPr marL="685800" indent="-228600" algn="l" defTabSz="914400" rtl="0" eaLnBrk="1" latinLnBrk="0" hangingPunct="1">
              <a:lnSpc>
                <a:spcPct val="90000"/>
              </a:lnSpc>
              <a:spcBef>
                <a:spcPts val="500"/>
              </a:spcBef>
              <a:buClrTx/>
              <a:buFontTx/>
              <a:buChar char="◦"/>
              <a:defRPr sz="2000" kern="1200">
                <a:solidFill>
                  <a:schemeClr val="bg1"/>
                </a:solidFill>
                <a:latin typeface="Avenir Next LT Pro" panose="020B0504020202020204" pitchFamily="34" charset="0"/>
                <a:ea typeface="+mn-ea"/>
                <a:cs typeface="+mn-cs"/>
              </a:defRPr>
            </a:lvl2pPr>
            <a:lvl3pPr marL="1143000" indent="-228600" algn="l" defTabSz="914400" rtl="0" eaLnBrk="1" latinLnBrk="0" hangingPunct="1">
              <a:lnSpc>
                <a:spcPct val="90000"/>
              </a:lnSpc>
              <a:spcBef>
                <a:spcPts val="500"/>
              </a:spcBef>
              <a:buClrTx/>
              <a:buFont typeface="Wingdings" panose="05000000000000000000" pitchFamily="2" charset="2"/>
              <a:buChar char="§"/>
              <a:defRPr sz="1800" kern="1200">
                <a:solidFill>
                  <a:schemeClr val="bg1"/>
                </a:solidFill>
                <a:latin typeface="Avenir Next LT Pro" panose="020B05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Avenir Next LT Pro"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Avenir Next LT Pro"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Bef>
                <a:spcPts val="0"/>
              </a:spcBef>
              <a:spcAft>
                <a:spcPts val="0"/>
              </a:spcAft>
              <a:buFont typeface="Arial" panose="020B0604020202020204" pitchFamily="34" charset="0"/>
              <a:buNone/>
            </a:pPr>
            <a:r>
              <a:rPr lang="en-US" b="1">
                <a:solidFill>
                  <a:schemeClr val="tx1"/>
                </a:solidFill>
              </a:rPr>
              <a:t>Research Details</a:t>
            </a:r>
          </a:p>
          <a:p>
            <a:pPr marL="457200" indent="-234950" fontAlgn="auto">
              <a:spcBef>
                <a:spcPts val="0"/>
              </a:spcBef>
              <a:spcAft>
                <a:spcPts val="0"/>
              </a:spcAft>
            </a:pPr>
            <a:r>
              <a:rPr lang="en-US" sz="2000">
                <a:solidFill>
                  <a:schemeClr val="tx1"/>
                </a:solidFill>
                <a:latin typeface="+mj-lt"/>
              </a:rPr>
              <a:t>The einsteinium was produced at the High Flux Isotope Reactor (HFIR). </a:t>
            </a:r>
          </a:p>
          <a:p>
            <a:pPr marL="457200" indent="-234950" fontAlgn="auto">
              <a:spcBef>
                <a:spcPts val="0"/>
              </a:spcBef>
              <a:spcAft>
                <a:spcPts val="0"/>
              </a:spcAft>
            </a:pPr>
            <a:r>
              <a:rPr lang="en-US" sz="2000">
                <a:solidFill>
                  <a:schemeClr val="tx1"/>
                </a:solidFill>
                <a:latin typeface="+mj-lt"/>
              </a:rPr>
              <a:t>The investigation revealed an intermediate spin-orbit coupling scheme, defined the Es L</a:t>
            </a:r>
            <a:r>
              <a:rPr lang="en-US" sz="2000" baseline="-25000">
                <a:solidFill>
                  <a:schemeClr val="tx1"/>
                </a:solidFill>
                <a:latin typeface="+mj-lt"/>
              </a:rPr>
              <a:t>3</a:t>
            </a:r>
            <a:r>
              <a:rPr lang="en-US" sz="2000">
                <a:solidFill>
                  <a:schemeClr val="tx1"/>
                </a:solidFill>
                <a:latin typeface="+mj-lt"/>
              </a:rPr>
              <a:t>-absorption edge, determined an Es-ligand bond distance, and revealed a shift in luminescence to shorter wavelengths upon metal complexation. </a:t>
            </a:r>
          </a:p>
        </p:txBody>
      </p:sp>
      <p:sp>
        <p:nvSpPr>
          <p:cNvPr id="15" name="TextBox 14">
            <a:extLst>
              <a:ext uri="{FF2B5EF4-FFF2-40B4-BE49-F238E27FC236}">
                <a16:creationId xmlns:a16="http://schemas.microsoft.com/office/drawing/2014/main" id="{A37795C4-1134-C34E-9226-C01F90DB8A45}"/>
              </a:ext>
            </a:extLst>
          </p:cNvPr>
          <p:cNvSpPr txBox="1"/>
          <p:nvPr/>
        </p:nvSpPr>
        <p:spPr>
          <a:xfrm>
            <a:off x="170985" y="4383608"/>
            <a:ext cx="5029665" cy="738664"/>
          </a:xfrm>
          <a:prstGeom prst="rect">
            <a:avLst/>
          </a:prstGeom>
          <a:noFill/>
        </p:spPr>
        <p:txBody>
          <a:bodyPr wrap="square">
            <a:spAutoFit/>
          </a:bodyPr>
          <a:lstStyle>
            <a:defPPr>
              <a:defRPr lang="en-US"/>
            </a:defPPr>
            <a:lvl1pPr fontAlgn="auto">
              <a:spcBef>
                <a:spcPts val="600"/>
              </a:spcBef>
              <a:spcAft>
                <a:spcPts val="0"/>
              </a:spcAft>
              <a:defRPr sz="1100">
                <a:latin typeface="+mj-lt"/>
                <a:cs typeface="Arial" panose="020B0604020202020204" pitchFamily="34" charset="0"/>
              </a:defRPr>
            </a:lvl1pPr>
          </a:lstStyle>
          <a:p>
            <a:r>
              <a:rPr lang="en-US" sz="1400" b="1" i="1"/>
              <a:t>Structural and optical features of [</a:t>
            </a:r>
            <a:r>
              <a:rPr lang="en-US" sz="1400" b="1" i="1" err="1"/>
              <a:t>Es</a:t>
            </a:r>
            <a:r>
              <a:rPr lang="en-US" sz="1400" b="1" i="1" baseline="30000" err="1"/>
              <a:t>III</a:t>
            </a:r>
            <a:r>
              <a:rPr lang="en-US" sz="1400" b="1" i="1"/>
              <a:t>(HOPO)]</a:t>
            </a:r>
            <a:r>
              <a:rPr lang="en-US" sz="1400" b="1" i="1" baseline="30000"/>
              <a:t>-</a:t>
            </a:r>
            <a:r>
              <a:rPr lang="en-US" sz="1400" b="1" i="1"/>
              <a:t> were probed using element-specific </a:t>
            </a:r>
            <a:r>
              <a:rPr lang="en-US" sz="1400" b="1" i="1">
                <a:solidFill>
                  <a:schemeClr val="tx1"/>
                </a:solidFill>
                <a:latin typeface="+mj-lt"/>
              </a:rPr>
              <a:t>L</a:t>
            </a:r>
            <a:r>
              <a:rPr lang="en-US" sz="1400" b="1" i="1" baseline="-25000">
                <a:solidFill>
                  <a:schemeClr val="tx1"/>
                </a:solidFill>
                <a:latin typeface="+mj-lt"/>
              </a:rPr>
              <a:t>3</a:t>
            </a:r>
            <a:r>
              <a:rPr lang="en-US" sz="1400" b="1" i="1">
                <a:solidFill>
                  <a:schemeClr val="tx1"/>
                </a:solidFill>
                <a:latin typeface="+mj-lt"/>
              </a:rPr>
              <a:t>-</a:t>
            </a:r>
            <a:r>
              <a:rPr lang="en-US" sz="1400" b="1" i="1"/>
              <a:t>edge XAS at a synchrotron and luminescence spectroscopy at a DOE nanoscience center. </a:t>
            </a:r>
          </a:p>
        </p:txBody>
      </p:sp>
      <p:sp>
        <p:nvSpPr>
          <p:cNvPr id="16" name="Rectangle 15">
            <a:extLst>
              <a:ext uri="{FF2B5EF4-FFF2-40B4-BE49-F238E27FC236}">
                <a16:creationId xmlns:a16="http://schemas.microsoft.com/office/drawing/2014/main" id="{9763A6DD-BF1C-EF64-4388-8AA569299DA7}"/>
              </a:ext>
            </a:extLst>
          </p:cNvPr>
          <p:cNvSpPr/>
          <p:nvPr/>
        </p:nvSpPr>
        <p:spPr>
          <a:xfrm>
            <a:off x="170985" y="5122272"/>
            <a:ext cx="5132535" cy="1015663"/>
          </a:xfrm>
          <a:prstGeom prst="rect">
            <a:avLst/>
          </a:prstGeom>
          <a:noFill/>
        </p:spPr>
        <p:txBody>
          <a:bodyPr wrap="square">
            <a:spAutoFit/>
          </a:bodyPr>
          <a:lstStyle/>
          <a:p>
            <a:pPr fontAlgn="auto">
              <a:spcBef>
                <a:spcPts val="600"/>
              </a:spcBef>
              <a:spcAft>
                <a:spcPts val="0"/>
              </a:spcAft>
            </a:pPr>
            <a:r>
              <a:rPr lang="en-US" sz="1100">
                <a:latin typeface="+mj-lt"/>
                <a:cs typeface="Arial" panose="020B0604020202020204" pitchFamily="34" charset="0"/>
              </a:rPr>
              <a:t>K.P. Carter, K.M. Shield, K.F. Smith, Z.R. Jones, J.N. Wacker, L. </a:t>
            </a:r>
            <a:r>
              <a:rPr lang="en-US" sz="1100" err="1">
                <a:latin typeface="+mj-lt"/>
                <a:cs typeface="Arial" panose="020B0604020202020204" pitchFamily="34" charset="0"/>
              </a:rPr>
              <a:t>Arnedo</a:t>
            </a:r>
            <a:r>
              <a:rPr lang="en-US" sz="1100">
                <a:latin typeface="+mj-lt"/>
                <a:cs typeface="Arial" panose="020B0604020202020204" pitchFamily="34" charset="0"/>
              </a:rPr>
              <a:t>-Sanchez, T.M. Mattox, L.M. Moreau, K.E. </a:t>
            </a:r>
            <a:r>
              <a:rPr lang="en-US" sz="1100" err="1">
                <a:latin typeface="+mj-lt"/>
                <a:cs typeface="Arial" panose="020B0604020202020204" pitchFamily="34" charset="0"/>
              </a:rPr>
              <a:t>Knope</a:t>
            </a:r>
            <a:r>
              <a:rPr lang="en-US" sz="1100">
                <a:latin typeface="+mj-lt"/>
                <a:cs typeface="Arial" panose="020B0604020202020204" pitchFamily="34" charset="0"/>
              </a:rPr>
              <a:t>, S.A. Kozimor, C.H. Booth, R.J. </a:t>
            </a:r>
            <a:r>
              <a:rPr lang="en-US" sz="1100" err="1">
                <a:latin typeface="+mj-lt"/>
                <a:cs typeface="Arial" panose="020B0604020202020204" pitchFamily="34" charset="0"/>
              </a:rPr>
              <a:t>Abergel</a:t>
            </a:r>
            <a:r>
              <a:rPr lang="en-US" sz="1100">
                <a:latin typeface="+mj-lt"/>
                <a:cs typeface="Arial" panose="020B0604020202020204" pitchFamily="34" charset="0"/>
              </a:rPr>
              <a:t>. </a:t>
            </a:r>
            <a:r>
              <a:rPr lang="en-US" sz="1100" i="1">
                <a:latin typeface="+mj-lt"/>
                <a:cs typeface="Arial" panose="020B0604020202020204" pitchFamily="34" charset="0"/>
              </a:rPr>
              <a:t>Nature</a:t>
            </a:r>
            <a:r>
              <a:rPr lang="en-US" sz="1100">
                <a:latin typeface="+mj-lt"/>
                <a:cs typeface="Arial" panose="020B0604020202020204" pitchFamily="34" charset="0"/>
              </a:rPr>
              <a:t>. </a:t>
            </a:r>
            <a:r>
              <a:rPr lang="en-US" sz="1100" b="1">
                <a:latin typeface="+mj-lt"/>
                <a:cs typeface="Arial" panose="020B0604020202020204" pitchFamily="34" charset="0"/>
              </a:rPr>
              <a:t>2021</a:t>
            </a:r>
            <a:r>
              <a:rPr lang="en-US" sz="1100">
                <a:latin typeface="+mj-lt"/>
                <a:cs typeface="Arial" panose="020B0604020202020204" pitchFamily="34" charset="0"/>
              </a:rPr>
              <a:t>, </a:t>
            </a:r>
            <a:r>
              <a:rPr lang="en-US" sz="1100" i="1">
                <a:latin typeface="+mj-lt"/>
                <a:cs typeface="Arial" panose="020B0604020202020204" pitchFamily="34" charset="0"/>
              </a:rPr>
              <a:t>590</a:t>
            </a:r>
            <a:r>
              <a:rPr lang="en-US" sz="1100">
                <a:latin typeface="+mj-lt"/>
                <a:cs typeface="Arial" panose="020B0604020202020204" pitchFamily="34" charset="0"/>
              </a:rPr>
              <a:t>, 85-88. DOI: 10.1038/s41586-020-03179-3</a:t>
            </a:r>
            <a:endParaRPr lang="fi-FI" sz="1100">
              <a:latin typeface="+mj-lt"/>
              <a:cs typeface="Arial" panose="020B0604020202020204" pitchFamily="34" charset="0"/>
            </a:endParaRPr>
          </a:p>
          <a:p>
            <a:pPr fontAlgn="auto">
              <a:spcBef>
                <a:spcPts val="600"/>
              </a:spcBef>
              <a:spcAft>
                <a:spcPts val="0"/>
              </a:spcAft>
            </a:pPr>
            <a:r>
              <a:rPr lang="fi-FI" sz="1100">
                <a:latin typeface="+mj-lt"/>
                <a:cs typeface="Arial" panose="020B0604020202020204" pitchFamily="34" charset="0"/>
              </a:rPr>
              <a:t>Work was performed at Lawrence Berkeley and Los Alamos National Laboratiries  and used the Molecualr Foundry and Stanford Synchrotron Radiation Lightsource. </a:t>
            </a:r>
            <a:endParaRPr lang="en-US" sz="1100">
              <a:latin typeface="+mj-lt"/>
              <a:cs typeface="Arial" panose="020B0604020202020204" pitchFamily="34" charset="0"/>
            </a:endParaRPr>
          </a:p>
        </p:txBody>
      </p:sp>
      <p:pic>
        <p:nvPicPr>
          <p:cNvPr id="2" name="Picture 1">
            <a:extLst>
              <a:ext uri="{FF2B5EF4-FFF2-40B4-BE49-F238E27FC236}">
                <a16:creationId xmlns:a16="http://schemas.microsoft.com/office/drawing/2014/main" id="{CE88C871-8F49-390F-23F0-2E21DFE72098}"/>
              </a:ext>
            </a:extLst>
          </p:cNvPr>
          <p:cNvPicPr>
            <a:picLocks noChangeAspect="1"/>
          </p:cNvPicPr>
          <p:nvPr/>
        </p:nvPicPr>
        <p:blipFill rotWithShape="1">
          <a:blip r:embed="rId3"/>
          <a:srcRect l="8562" t="17796" r="59492" b="40017"/>
          <a:stretch/>
        </p:blipFill>
        <p:spPr>
          <a:xfrm>
            <a:off x="418198" y="1019665"/>
            <a:ext cx="4478087" cy="3336885"/>
          </a:xfrm>
          <a:prstGeom prst="rect">
            <a:avLst/>
          </a:prstGeom>
        </p:spPr>
      </p:pic>
      <p:pic>
        <p:nvPicPr>
          <p:cNvPr id="5" name="Picture 4">
            <a:extLst>
              <a:ext uri="{FF2B5EF4-FFF2-40B4-BE49-F238E27FC236}">
                <a16:creationId xmlns:a16="http://schemas.microsoft.com/office/drawing/2014/main" id="{6F3D1F96-3778-2899-3FAD-5F000E11CEC2}"/>
              </a:ext>
            </a:extLst>
          </p:cNvPr>
          <p:cNvPicPr>
            <a:picLocks noChangeAspect="1"/>
          </p:cNvPicPr>
          <p:nvPr/>
        </p:nvPicPr>
        <p:blipFill rotWithShape="1">
          <a:blip r:embed="rId3"/>
          <a:srcRect l="49300" t="87244" r="2889" b="3719"/>
          <a:stretch/>
        </p:blipFill>
        <p:spPr>
          <a:xfrm>
            <a:off x="8305036" y="5868207"/>
            <a:ext cx="3886964" cy="414553"/>
          </a:xfrm>
          <a:prstGeom prst="rect">
            <a:avLst/>
          </a:prstGeom>
        </p:spPr>
      </p:pic>
    </p:spTree>
    <p:extLst>
      <p:ext uri="{BB962C8B-B14F-4D97-AF65-F5344CB8AC3E}">
        <p14:creationId xmlns:p14="http://schemas.microsoft.com/office/powerpoint/2010/main" val="1170426073"/>
      </p:ext>
    </p:extLst>
  </p:cSld>
  <p:clrMapOvr>
    <a:masterClrMapping/>
  </p:clrMapOvr>
</p:sld>
</file>

<file path=ppt/theme/theme1.xml><?xml version="1.0" encoding="utf-8"?>
<a:theme xmlns:a="http://schemas.openxmlformats.org/drawingml/2006/main" name="Office Theme">
  <a:themeElements>
    <a:clrScheme name="New Science">
      <a:dk1>
        <a:sysClr val="windowText" lastClr="000000"/>
      </a:dk1>
      <a:lt1>
        <a:sysClr val="window" lastClr="FFFFFF"/>
      </a:lt1>
      <a:dk2>
        <a:srgbClr val="44546A"/>
      </a:dk2>
      <a:lt2>
        <a:srgbClr val="E7E6E6"/>
      </a:lt2>
      <a:accent1>
        <a:srgbClr val="10436A"/>
      </a:accent1>
      <a:accent2>
        <a:srgbClr val="92DCE5"/>
      </a:accent2>
      <a:accent3>
        <a:srgbClr val="D64933"/>
      </a:accent3>
      <a:accent4>
        <a:srgbClr val="7C7C7C"/>
      </a:accent4>
      <a:accent5>
        <a:srgbClr val="EFCB68"/>
      </a:accent5>
      <a:accent6>
        <a:srgbClr val="70AD47"/>
      </a:accent6>
      <a:hlink>
        <a:srgbClr val="0563C1"/>
      </a:hlink>
      <a:folHlink>
        <a:srgbClr val="954F72"/>
      </a:folHlink>
    </a:clrScheme>
    <a:fontScheme name="SC new">
      <a:majorFont>
        <a:latin typeface="AvenirNext LT Pro Bold"/>
        <a:ea typeface=""/>
        <a:cs typeface=""/>
      </a:majorFont>
      <a:minorFont>
        <a:latin typeface="AvenirNext LT Pro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C PowerPoint base template for staff.potx" id="{4612F961-56E9-4EB7-9A44-11671DE64C64}" vid="{D4CA479C-CAD5-4C1B-93CE-2627735869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2fd4fa8-5260-4498-b10f-050fec638f83">
      <Terms xmlns="http://schemas.microsoft.com/office/infopath/2007/PartnerControls"/>
    </lcf76f155ced4ddcb4097134ff3c332f>
    <TaxCatchAll xmlns="605210e9-d40a-462f-a730-cd1f3461091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B70D745B23EB45954545B4C2D7A16B" ma:contentTypeVersion="11" ma:contentTypeDescription="Create a new document." ma:contentTypeScope="" ma:versionID="1638e96d711b4fdb3849932b62baaa49">
  <xsd:schema xmlns:xsd="http://www.w3.org/2001/XMLSchema" xmlns:xs="http://www.w3.org/2001/XMLSchema" xmlns:p="http://schemas.microsoft.com/office/2006/metadata/properties" xmlns:ns2="a2fd4fa8-5260-4498-b10f-050fec638f83" xmlns:ns3="605210e9-d40a-462f-a730-cd1f34610913" targetNamespace="http://schemas.microsoft.com/office/2006/metadata/properties" ma:root="true" ma:fieldsID="4e8985b8380a8159ecfb92807119fb10" ns2:_="" ns3:_="">
    <xsd:import namespace="a2fd4fa8-5260-4498-b10f-050fec638f83"/>
    <xsd:import namespace="605210e9-d40a-462f-a730-cd1f346109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fd4fa8-5260-4498-b10f-050fec638f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dabcefd-7191-4d78-9d18-d223e822eda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05210e9-d40a-462f-a730-cd1f34610913"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90c6a08e-2f0d-4d21-81be-2d602b645be1}" ma:internalName="TaxCatchAll" ma:showField="CatchAllData" ma:web="605210e9-d40a-462f-a730-cd1f346109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F7790F-BA58-4A24-91ED-1021B5D04AB9}">
  <ds:schemaRefs>
    <ds:schemaRef ds:uri="http://purl.org/dc/terms/"/>
    <ds:schemaRef ds:uri="http://schemas.microsoft.com/office/2006/metadata/properties"/>
    <ds:schemaRef ds:uri="http://schemas.openxmlformats.org/package/2006/metadata/core-properties"/>
    <ds:schemaRef ds:uri="605210e9-d40a-462f-a730-cd1f34610913"/>
    <ds:schemaRef ds:uri="http://schemas.microsoft.com/office/infopath/2007/PartnerControls"/>
    <ds:schemaRef ds:uri="http://purl.org/dc/elements/1.1/"/>
    <ds:schemaRef ds:uri="http://www.w3.org/XML/1998/namespace"/>
    <ds:schemaRef ds:uri="a2fd4fa8-5260-4498-b10f-050fec638f83"/>
    <ds:schemaRef ds:uri="http://schemas.microsoft.com/office/2006/documentManagement/types"/>
    <ds:schemaRef ds:uri="http://purl.org/dc/dcmitype/"/>
  </ds:schemaRefs>
</ds:datastoreItem>
</file>

<file path=customXml/itemProps2.xml><?xml version="1.0" encoding="utf-8"?>
<ds:datastoreItem xmlns:ds="http://schemas.openxmlformats.org/officeDocument/2006/customXml" ds:itemID="{7CC1118C-DE44-4A3E-A2F6-DD8481EB30D0}">
  <ds:schemaRefs>
    <ds:schemaRef ds:uri="http://schemas.microsoft.com/sharepoint/v3/contenttype/forms"/>
  </ds:schemaRefs>
</ds:datastoreItem>
</file>

<file path=customXml/itemProps3.xml><?xml version="1.0" encoding="utf-8"?>
<ds:datastoreItem xmlns:ds="http://schemas.openxmlformats.org/officeDocument/2006/customXml" ds:itemID="{0A054909-5E3C-42E8-8084-04D7BCAC2A8F}">
  <ds:schemaRefs>
    <ds:schemaRef ds:uri="605210e9-d40a-462f-a730-cd1f34610913"/>
    <ds:schemaRef ds:uri="a2fd4fa8-5260-4498-b10f-050fec638f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1949</Words>
  <Application>Microsoft Macintosh PowerPoint</Application>
  <PresentationFormat>Widescreen</PresentationFormat>
  <Paragraphs>125</Paragraphs>
  <Slides>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Avenir Next LT Pro</vt:lpstr>
      <vt:lpstr>AvenirNext LT Pro Bold</vt:lpstr>
      <vt:lpstr>AvenirNext LT Pro Regular</vt:lpstr>
      <vt:lpstr>Calibri</vt:lpstr>
      <vt:lpstr>Wingdings</vt:lpstr>
      <vt:lpstr>Office Theme</vt:lpstr>
      <vt:lpstr>Highlight Format Template – Slide 1</vt:lpstr>
      <vt:lpstr>Highlight Format Template – Slide 2</vt:lpstr>
      <vt:lpstr>How to Build a DOE Office of Science Highlight Slide</vt:lpstr>
      <vt:lpstr>How to Build a DOE Office of Science Highlight Slide</vt:lpstr>
      <vt:lpstr>How to Build a DOE Office of Science Highlight Slide</vt:lpstr>
      <vt:lpstr>How to Build a DOE Office of Science Highlight Slide</vt:lpstr>
      <vt:lpstr>PowerPoint Presentation</vt:lpstr>
      <vt:lpstr>PowerPoint Presentation</vt:lpstr>
      <vt:lpstr>Surprising new transplutonium chemistry revealed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 of Science Update</dc:title>
  <dc:creator>Kung, Harriet</dc:creator>
  <cp:lastModifiedBy>Leyton Ortega, Vicente</cp:lastModifiedBy>
  <cp:revision>1</cp:revision>
  <cp:lastPrinted>2021-03-18T13:29:33Z</cp:lastPrinted>
  <dcterms:created xsi:type="dcterms:W3CDTF">2020-04-15T21:20:35Z</dcterms:created>
  <dcterms:modified xsi:type="dcterms:W3CDTF">2026-05-19T04:01:15Z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900</vt:r8>
  </property>
  <property fmtid="{D5CDD505-2E9C-101B-9397-08002B2CF9AE}" pid="3" name="xd_Signature">
    <vt:bool>false</vt:bool>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ContentTypeId">
    <vt:lpwstr>0x01010009B70D745B23EB45954545B4C2D7A16B</vt:lpwstr>
  </property>
  <property fmtid="{D5CDD505-2E9C-101B-9397-08002B2CF9AE}" pid="10" name="MediaServiceImageTags">
    <vt:lpwstr/>
  </property>
</Properties>
</file>